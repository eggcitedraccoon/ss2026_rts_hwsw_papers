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0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2" r:id="rId3"/>
    <p:sldId id="274" r:id="rId4"/>
    <p:sldId id="259" r:id="rId5"/>
    <p:sldId id="260" r:id="rId6"/>
    <p:sldId id="269" r:id="rId7"/>
    <p:sldId id="265" r:id="rId8"/>
    <p:sldId id="270" r:id="rId9"/>
    <p:sldId id="271" r:id="rId10"/>
    <p:sldId id="268" r:id="rId11"/>
    <p:sldId id="273" r:id="rId12"/>
    <p:sldId id="275" r:id="rId13"/>
  </p:sldIdLst>
  <p:sldSz cx="9144000" cy="6858000" type="screen4x3"/>
  <p:notesSz cx="6797675" cy="9926638"/>
  <p:defaultTextStyle>
    <a:defPPr>
      <a:defRPr lang="de-DE"/>
    </a:defPPr>
    <a:lvl1pPr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1pPr>
    <a:lvl2pPr marL="4572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2pPr>
    <a:lvl3pPr marL="9144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3pPr>
    <a:lvl4pPr marL="13716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4pPr>
    <a:lvl5pPr marL="18288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5">
          <p15:clr>
            <a:srgbClr val="A4A3A4"/>
          </p15:clr>
        </p15:guide>
        <p15:guide id="2" orient="horz" pos="1049">
          <p15:clr>
            <a:srgbClr val="A4A3A4"/>
          </p15:clr>
        </p15:guide>
        <p15:guide id="3" orient="horz" pos="4156">
          <p15:clr>
            <a:srgbClr val="A4A3A4"/>
          </p15:clr>
        </p15:guide>
        <p15:guide id="4" orient="horz" pos="1525">
          <p15:clr>
            <a:srgbClr val="A4A3A4"/>
          </p15:clr>
        </p15:guide>
        <p15:guide id="5" orient="horz" pos="2704">
          <p15:clr>
            <a:srgbClr val="A4A3A4"/>
          </p15:clr>
        </p15:guide>
        <p15:guide id="6" orient="horz" pos="1842">
          <p15:clr>
            <a:srgbClr val="A4A3A4"/>
          </p15:clr>
        </p15:guide>
        <p15:guide id="7" orient="horz" pos="3475">
          <p15:clr>
            <a:srgbClr val="A4A3A4"/>
          </p15:clr>
        </p15:guide>
        <p15:guide id="8" orient="horz" pos="845">
          <p15:clr>
            <a:srgbClr val="A4A3A4"/>
          </p15:clr>
        </p15:guide>
        <p15:guide id="9" pos="3742">
          <p15:clr>
            <a:srgbClr val="A4A3A4"/>
          </p15:clr>
        </p15:guide>
        <p15:guide id="10" pos="2608">
          <p15:clr>
            <a:srgbClr val="A4A3A4"/>
          </p15:clr>
        </p15:guide>
        <p15:guide id="11" pos="1474">
          <p15:clr>
            <a:srgbClr val="A4A3A4"/>
          </p15:clr>
        </p15:guide>
        <p15:guide id="12" pos="340">
          <p15:clr>
            <a:srgbClr val="A4A3A4"/>
          </p15:clr>
        </p15:guide>
        <p15:guide id="13" pos="3515">
          <p15:clr>
            <a:srgbClr val="A4A3A4"/>
          </p15:clr>
        </p15:guide>
        <p15:guide id="14" pos="38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90FF"/>
    <a:srgbClr val="FF6621"/>
    <a:srgbClr val="7E4200"/>
    <a:srgbClr val="001E87"/>
    <a:srgbClr val="666699"/>
    <a:srgbClr val="800000"/>
    <a:srgbClr val="99CC00"/>
    <a:srgbClr val="993300"/>
    <a:srgbClr val="0021AC"/>
    <a:srgbClr val="001C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54" autoAdjust="0"/>
    <p:restoredTop sz="96340" autoAdjust="0"/>
  </p:normalViewPr>
  <p:slideViewPr>
    <p:cSldViewPr>
      <p:cViewPr varScale="1">
        <p:scale>
          <a:sx n="109" d="100"/>
          <a:sy n="109" d="100"/>
        </p:scale>
        <p:origin x="1806" y="108"/>
      </p:cViewPr>
      <p:guideLst>
        <p:guide orient="horz" pos="595"/>
        <p:guide orient="horz" pos="1049"/>
        <p:guide orient="horz" pos="4156"/>
        <p:guide orient="horz" pos="1525"/>
        <p:guide orient="horz" pos="2704"/>
        <p:guide orient="horz" pos="1842"/>
        <p:guide orient="horz" pos="3475"/>
        <p:guide orient="horz" pos="845"/>
        <p:guide pos="3742"/>
        <p:guide pos="2608"/>
        <p:guide pos="1474"/>
        <p:guide pos="340"/>
        <p:guide pos="3515"/>
        <p:guide pos="38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-2730" y="-120"/>
      </p:cViewPr>
      <p:guideLst>
        <p:guide orient="horz" pos="3127"/>
        <p:guide pos="2141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30" name="Rectangle 14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44179" y="76987"/>
            <a:ext cx="4853528" cy="261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600" b="1">
                <a:solidFill>
                  <a:schemeClr val="tx1"/>
                </a:solidFill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r>
              <a:rPr lang="de-DE"/>
              <a:t>OFFIS</a:t>
            </a:r>
          </a:p>
        </p:txBody>
      </p:sp>
      <p:sp>
        <p:nvSpPr>
          <p:cNvPr id="86031" name="Rectangle 15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179" y="338741"/>
            <a:ext cx="4853528" cy="22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100"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fld id="{4E0C06B7-C559-4809-80E3-2886171D3968}" type="datetime1">
              <a:rPr lang="de-DE" smtClean="0"/>
              <a:t>22.06.2026</a:t>
            </a:fld>
            <a:endParaRPr lang="de-DE"/>
          </a:p>
        </p:txBody>
      </p:sp>
      <p:sp>
        <p:nvSpPr>
          <p:cNvPr id="39940" name="Rectangle 16"/>
          <p:cNvSpPr>
            <a:spLocks noChangeArrowheads="1"/>
          </p:cNvSpPr>
          <p:nvPr/>
        </p:nvSpPr>
        <p:spPr bwMode="auto">
          <a:xfrm>
            <a:off x="595861" y="9684900"/>
            <a:ext cx="5657636" cy="16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ct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</a:pPr>
            <a:endParaRPr lang="en-US" sz="1100">
              <a:ea typeface="ヒラギノ角ゴ Pro W3" pitchFamily="96" charset="-128"/>
            </a:endParaRPr>
          </a:p>
        </p:txBody>
      </p:sp>
      <p:sp>
        <p:nvSpPr>
          <p:cNvPr id="39941" name="Rectangle 17"/>
          <p:cNvSpPr>
            <a:spLocks noChangeArrowheads="1"/>
          </p:cNvSpPr>
          <p:nvPr/>
        </p:nvSpPr>
        <p:spPr bwMode="auto">
          <a:xfrm>
            <a:off x="0" y="76987"/>
            <a:ext cx="472737" cy="261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</a:pPr>
            <a:fld id="{275B9C72-3485-48FF-AE1D-FB71FC7FF0C6}" type="slidenum">
              <a:rPr lang="de-DE" b="1">
                <a:ea typeface="ヒラギノ角ゴ Pro W3" pitchFamily="96" charset="-128"/>
              </a:rPr>
              <a:pPr algn="r" defTabSz="955731" eaLnBrk="0" hangingPunct="0">
                <a:lnSpc>
                  <a:spcPct val="100000"/>
                </a:lnSpc>
                <a:spcAft>
                  <a:spcPct val="0"/>
                </a:spcAft>
                <a:buClrTx/>
                <a:buSzTx/>
              </a:pPr>
              <a:t>‹#›</a:t>
            </a:fld>
            <a:endParaRPr lang="de-DE" b="1">
              <a:ea typeface="ヒラギノ角ゴ Pro W3" pitchFamily="96" charset="-128"/>
            </a:endParaRPr>
          </a:p>
        </p:txBody>
      </p:sp>
      <p:sp>
        <p:nvSpPr>
          <p:cNvPr id="39942" name="Line 18"/>
          <p:cNvSpPr>
            <a:spLocks noChangeShapeType="1"/>
          </p:cNvSpPr>
          <p:nvPr/>
        </p:nvSpPr>
        <p:spPr bwMode="auto">
          <a:xfrm>
            <a:off x="0" y="76986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9943" name="AutoShape 19"/>
          <p:cNvSpPr>
            <a:spLocks noChangeAspect="1" noChangeArrowheads="1"/>
          </p:cNvSpPr>
          <p:nvPr/>
        </p:nvSpPr>
        <p:spPr bwMode="auto">
          <a:xfrm>
            <a:off x="-24321" y="109322"/>
            <a:ext cx="139845" cy="173989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8221" tIns="44111" rIns="88221" bIns="44111" anchor="ctr"/>
          <a:lstStyle/>
          <a:p>
            <a:endParaRPr lang="en-US"/>
          </a:p>
        </p:txBody>
      </p:sp>
      <p:sp>
        <p:nvSpPr>
          <p:cNvPr id="39944" name="Line 20"/>
          <p:cNvSpPr>
            <a:spLocks noChangeShapeType="1"/>
          </p:cNvSpPr>
          <p:nvPr/>
        </p:nvSpPr>
        <p:spPr bwMode="auto">
          <a:xfrm>
            <a:off x="0" y="548144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9945" name="Line 21"/>
          <p:cNvSpPr>
            <a:spLocks noChangeShapeType="1"/>
          </p:cNvSpPr>
          <p:nvPr/>
        </p:nvSpPr>
        <p:spPr bwMode="auto">
          <a:xfrm>
            <a:off x="0" y="9654105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pic>
        <p:nvPicPr>
          <p:cNvPr id="39946" name="Picture 22" descr="logo_standard_d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52"/>
          <a:stretch>
            <a:fillRect/>
          </a:stretch>
        </p:blipFill>
        <p:spPr bwMode="auto">
          <a:xfrm>
            <a:off x="5812681" y="123179"/>
            <a:ext cx="984994" cy="37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60710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4538"/>
            <a:ext cx="4962525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64" y="4714653"/>
            <a:ext cx="5438748" cy="44667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62" tIns="47781" rIns="95562" bIns="4778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44179" y="76987"/>
            <a:ext cx="4853528" cy="261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600" b="1">
                <a:solidFill>
                  <a:schemeClr val="tx1"/>
                </a:solidFill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r>
              <a:rPr lang="de-DE"/>
              <a:t>OFFIS</a:t>
            </a:r>
          </a:p>
        </p:txBody>
      </p:sp>
      <p:sp>
        <p:nvSpPr>
          <p:cNvPr id="4120" name="Rectangle 24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179" y="338741"/>
            <a:ext cx="4853528" cy="22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100"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fld id="{C7E54160-B116-4109-AA92-3860CE6317DD}" type="datetime1">
              <a:rPr lang="de-DE" smtClean="0"/>
              <a:t>22.06.2026</a:t>
            </a:fld>
            <a:endParaRPr lang="de-DE"/>
          </a:p>
        </p:txBody>
      </p:sp>
      <p:sp>
        <p:nvSpPr>
          <p:cNvPr id="37894" name="Rectangle 25"/>
          <p:cNvSpPr>
            <a:spLocks noChangeArrowheads="1"/>
          </p:cNvSpPr>
          <p:nvPr/>
        </p:nvSpPr>
        <p:spPr bwMode="auto">
          <a:xfrm>
            <a:off x="595861" y="9684900"/>
            <a:ext cx="5657636" cy="16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ct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en-US" sz="1100">
              <a:ea typeface="ヒラギノ角ゴ Pro W3" pitchFamily="96" charset="-128"/>
            </a:endParaRPr>
          </a:p>
        </p:txBody>
      </p:sp>
      <p:sp>
        <p:nvSpPr>
          <p:cNvPr id="37895" name="Rectangle 26"/>
          <p:cNvSpPr>
            <a:spLocks noChangeArrowheads="1"/>
          </p:cNvSpPr>
          <p:nvPr/>
        </p:nvSpPr>
        <p:spPr bwMode="auto">
          <a:xfrm>
            <a:off x="0" y="76987"/>
            <a:ext cx="472737" cy="261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fld id="{22320607-5AC0-4A66-9987-88F714D17AA0}" type="slidenum">
              <a:rPr lang="de-DE" sz="1600" b="1">
                <a:ea typeface="ヒラギノ角ゴ Pro W3" pitchFamily="96" charset="-128"/>
              </a:rPr>
              <a:pPr algn="r" defTabSz="955731" eaLnBrk="0" hangingPunct="0">
                <a:lnSpc>
                  <a:spcPct val="100000"/>
                </a:lnSpc>
                <a:spcAft>
                  <a:spcPct val="0"/>
                </a:spcAft>
                <a:buClrTx/>
                <a:buSzTx/>
                <a:buFontTx/>
                <a:buNone/>
              </a:pPr>
              <a:t>‹#›</a:t>
            </a:fld>
            <a:endParaRPr lang="de-DE" sz="1600" b="1">
              <a:ea typeface="ヒラギノ角ゴ Pro W3" pitchFamily="96" charset="-128"/>
            </a:endParaRPr>
          </a:p>
        </p:txBody>
      </p:sp>
      <p:sp>
        <p:nvSpPr>
          <p:cNvPr id="37896" name="Line 27"/>
          <p:cNvSpPr>
            <a:spLocks noChangeShapeType="1"/>
          </p:cNvSpPr>
          <p:nvPr/>
        </p:nvSpPr>
        <p:spPr bwMode="auto">
          <a:xfrm>
            <a:off x="0" y="76986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7897" name="AutoShape 28"/>
          <p:cNvSpPr>
            <a:spLocks noChangeAspect="1" noChangeArrowheads="1"/>
          </p:cNvSpPr>
          <p:nvPr/>
        </p:nvSpPr>
        <p:spPr bwMode="auto">
          <a:xfrm>
            <a:off x="-24321" y="109322"/>
            <a:ext cx="139845" cy="173989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8221" tIns="44111" rIns="88221" bIns="44111" anchor="ctr"/>
          <a:lstStyle/>
          <a:p>
            <a:endParaRPr lang="en-US"/>
          </a:p>
        </p:txBody>
      </p:sp>
      <p:sp>
        <p:nvSpPr>
          <p:cNvPr id="37898" name="Line 29"/>
          <p:cNvSpPr>
            <a:spLocks noChangeShapeType="1"/>
          </p:cNvSpPr>
          <p:nvPr/>
        </p:nvSpPr>
        <p:spPr bwMode="auto">
          <a:xfrm>
            <a:off x="0" y="548144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7899" name="Line 30"/>
          <p:cNvSpPr>
            <a:spLocks noChangeShapeType="1"/>
          </p:cNvSpPr>
          <p:nvPr/>
        </p:nvSpPr>
        <p:spPr bwMode="auto">
          <a:xfrm>
            <a:off x="0" y="9654105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pic>
        <p:nvPicPr>
          <p:cNvPr id="37900" name="Picture 31" descr="logo_standard_d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52"/>
          <a:stretch>
            <a:fillRect/>
          </a:stretch>
        </p:blipFill>
        <p:spPr bwMode="auto">
          <a:xfrm>
            <a:off x="5812681" y="123179"/>
            <a:ext cx="984994" cy="37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277198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Line 16"/>
          <p:cNvSpPr>
            <a:spLocks noChangeShapeType="1"/>
          </p:cNvSpPr>
          <p:nvPr userDrawn="1"/>
        </p:nvSpPr>
        <p:spPr bwMode="auto">
          <a:xfrm>
            <a:off x="0" y="944563"/>
            <a:ext cx="9144000" cy="0"/>
          </a:xfrm>
          <a:prstGeom prst="line">
            <a:avLst/>
          </a:prstGeom>
          <a:noFill/>
          <a:ln w="19050">
            <a:solidFill>
              <a:srgbClr val="5DAE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Überschrift einfügen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105273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pic>
        <p:nvPicPr>
          <p:cNvPr id="14" name="Grafik 4" descr="8-7-6-5-4-3-4-5-6-7-8_S.gif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0412" y="116633"/>
            <a:ext cx="828092" cy="636596"/>
          </a:xfrm>
          <a:prstGeom prst="rect">
            <a:avLst/>
          </a:prstGeom>
        </p:spPr>
      </p:pic>
      <p:sp>
        <p:nvSpPr>
          <p:cNvPr id="10" name="Rectangle 12"/>
          <p:cNvSpPr>
            <a:spLocks noChangeArrowheads="1"/>
          </p:cNvSpPr>
          <p:nvPr userDrawn="1"/>
        </p:nvSpPr>
        <p:spPr bwMode="auto">
          <a:xfrm>
            <a:off x="0" y="6597650"/>
            <a:ext cx="4572000" cy="260350"/>
          </a:xfrm>
          <a:prstGeom prst="rect">
            <a:avLst/>
          </a:prstGeom>
          <a:solidFill>
            <a:srgbClr val="2190FF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1" name="Rectangle 12"/>
          <p:cNvSpPr>
            <a:spLocks noChangeArrowheads="1"/>
          </p:cNvSpPr>
          <p:nvPr userDrawn="1"/>
        </p:nvSpPr>
        <p:spPr bwMode="auto">
          <a:xfrm>
            <a:off x="4572000" y="6597650"/>
            <a:ext cx="4572000" cy="260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182563" y="6656388"/>
            <a:ext cx="4389437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dirty="0">
                <a:solidFill>
                  <a:srgbClr val="FFFFFF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12" name="Rectangle 15"/>
          <p:cNvSpPr>
            <a:spLocks noGrp="1" noChangeArrowheads="1"/>
          </p:cNvSpPr>
          <p:nvPr>
            <p:ph type="dt" sz="half" idx="16"/>
          </p:nvPr>
        </p:nvSpPr>
        <p:spPr>
          <a:xfrm>
            <a:off x="7812360" y="6656388"/>
            <a:ext cx="755650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076C5B-2EA2-7A47-B86E-99AAD28441A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496094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de-DE" noProof="0" dirty="0"/>
              <a:t>Textmasterformate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467544" y="51267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noProof="0" dirty="0"/>
              <a:t>Subheadline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A6CC5D-69A9-BA4B-AC99-9F8254D0981E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3502570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39750" y="944724"/>
            <a:ext cx="3830638" cy="5440201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22788" y="944724"/>
            <a:ext cx="3830637" cy="5440201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467544" y="51267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9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1EAA1D-2E15-9046-9A40-4947ABB751C4}" type="datetime1">
              <a:rPr lang="de-DE" smtClean="0"/>
              <a:t>22.06.2026</a:t>
            </a:fld>
            <a:endParaRPr lang="de-DE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338027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9750" y="116632"/>
            <a:ext cx="5326063" cy="360362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539750" y="908720"/>
            <a:ext cx="7813675" cy="5476205"/>
          </a:xfrm>
        </p:spPr>
        <p:txBody>
          <a:bodyPr/>
          <a:lstStyle/>
          <a:p>
            <a:pPr lvl="0"/>
            <a:endParaRPr lang="de-DE" noProof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539750" y="469057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B5056C-E1FC-1F4E-A35C-F2D495D58E09}" type="datetime1">
              <a:rPr lang="de-DE" smtClean="0"/>
              <a:t>22.06.2026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2835627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539750" y="116632"/>
            <a:ext cx="5326063" cy="360362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469057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DC69DE-E521-EC4C-AFF3-2A6651E3F1AC}" type="datetime1">
              <a:rPr lang="de-DE" smtClean="0"/>
              <a:t>22.06.2026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2774310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55478" y="2026738"/>
            <a:ext cx="7233045" cy="338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1" y="3840480"/>
            <a:ext cx="6400799" cy="338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182563" y="6656388"/>
            <a:ext cx="4389437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2"/>
          </p:nvPr>
        </p:nvSpPr>
        <p:spPr>
          <a:xfrm>
            <a:off x="7812360" y="6656388"/>
            <a:ext cx="755650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3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1912718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>
            <a:spLocks noChangeArrowheads="1"/>
          </p:cNvSpPr>
          <p:nvPr userDrawn="1"/>
        </p:nvSpPr>
        <p:spPr bwMode="auto">
          <a:xfrm>
            <a:off x="0" y="6597650"/>
            <a:ext cx="4572000" cy="260350"/>
          </a:xfrm>
          <a:prstGeom prst="rect">
            <a:avLst/>
          </a:prstGeom>
          <a:solidFill>
            <a:srgbClr val="2190FF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026" name="Rectangle 12"/>
          <p:cNvSpPr>
            <a:spLocks noChangeArrowheads="1"/>
          </p:cNvSpPr>
          <p:nvPr userDrawn="1"/>
        </p:nvSpPr>
        <p:spPr bwMode="auto">
          <a:xfrm>
            <a:off x="4572000" y="6597650"/>
            <a:ext cx="4572000" cy="260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125413"/>
            <a:ext cx="53260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Titelmasterformat durch Klicken bearbeiten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908050"/>
            <a:ext cx="8099425" cy="547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Textmasterformate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182563" y="6656388"/>
            <a:ext cx="4389437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dirty="0">
                <a:solidFill>
                  <a:srgbClr val="FFFFFF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48464" y="6655197"/>
            <a:ext cx="396044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&gt;</a:t>
            </a:r>
          </a:p>
        </p:txBody>
      </p:sp>
      <p:sp>
        <p:nvSpPr>
          <p:cNvPr id="1033" name="Line 10"/>
          <p:cNvSpPr>
            <a:spLocks noChangeShapeType="1"/>
          </p:cNvSpPr>
          <p:nvPr userDrawn="1"/>
        </p:nvSpPr>
        <p:spPr bwMode="auto">
          <a:xfrm>
            <a:off x="0" y="796925"/>
            <a:ext cx="914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 noProof="0"/>
          </a:p>
        </p:txBody>
      </p:sp>
      <p:sp>
        <p:nvSpPr>
          <p:cNvPr id="1039" name="Rectangle 15"/>
          <p:cNvSpPr>
            <a:spLocks noGrp="1" noChangeArrowheads="1"/>
          </p:cNvSpPr>
          <p:nvPr>
            <p:ph type="dt" sz="half" idx="2"/>
          </p:nvPr>
        </p:nvSpPr>
        <p:spPr bwMode="ltGray">
          <a:xfrm>
            <a:off x="7812360" y="6656388"/>
            <a:ext cx="755650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B2D14DF-C64B-D248-822C-9E9F774E507A}" type="datetime1">
              <a:rPr lang="de-DE" noProof="0" smtClean="0"/>
              <a:t>22.06.2026</a:t>
            </a:fld>
            <a:endParaRPr lang="de-DE" noProof="0" dirty="0"/>
          </a:p>
        </p:txBody>
      </p:sp>
      <p:sp>
        <p:nvSpPr>
          <p:cNvPr id="1036" name="AutoShape 16"/>
          <p:cNvSpPr>
            <a:spLocks noChangeArrowheads="1"/>
          </p:cNvSpPr>
          <p:nvPr userDrawn="1"/>
        </p:nvSpPr>
        <p:spPr bwMode="auto">
          <a:xfrm>
            <a:off x="0" y="250825"/>
            <a:ext cx="107950" cy="107950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</p:spPr>
        <p:txBody>
          <a:bodyPr wrap="none" lIns="0" tIns="0" rIns="0" bIns="0" anchor="ctr"/>
          <a:lstStyle/>
          <a:p>
            <a:endParaRPr lang="de-DE" noProof="0"/>
          </a:p>
        </p:txBody>
      </p:sp>
      <p:pic>
        <p:nvPicPr>
          <p:cNvPr id="13" name="Grafik 4" descr="8-7-6-5-4-3-4-5-6-7-8_S.gif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0412" y="116633"/>
            <a:ext cx="828092" cy="63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472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7" r:id="rId1"/>
    <p:sldLayoutId id="2147483902" r:id="rId2"/>
    <p:sldLayoutId id="2147483903" r:id="rId3"/>
    <p:sldLayoutId id="2147483905" r:id="rId4"/>
    <p:sldLayoutId id="2147483906" r:id="rId5"/>
    <p:sldLayoutId id="2147483908" r:id="rId6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24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719138" indent="-268288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2000">
          <a:solidFill>
            <a:schemeClr val="tx1">
              <a:lumMod val="65000"/>
              <a:lumOff val="35000"/>
            </a:schemeClr>
          </a:solidFill>
          <a:latin typeface="+mn-lt"/>
        </a:defRPr>
      </a:lvl2pPr>
      <a:lvl3pPr marL="1165225" indent="-27146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800">
          <a:solidFill>
            <a:schemeClr val="tx1">
              <a:lumMod val="65000"/>
              <a:lumOff val="35000"/>
            </a:schemeClr>
          </a:solidFill>
          <a:latin typeface="+mn-lt"/>
        </a:defRPr>
      </a:lvl3pPr>
      <a:lvl4pPr marL="1612900" indent="-26511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600">
          <a:solidFill>
            <a:schemeClr val="tx1">
              <a:lumMod val="65000"/>
              <a:lumOff val="35000"/>
            </a:schemeClr>
          </a:solidFill>
          <a:latin typeface="+mn-lt"/>
        </a:defRPr>
      </a:lvl4pPr>
      <a:lvl5pPr marL="2060575" indent="-27146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600">
          <a:solidFill>
            <a:schemeClr val="tx1">
              <a:lumMod val="65000"/>
              <a:lumOff val="35000"/>
            </a:schemeClr>
          </a:solidFill>
          <a:latin typeface="+mn-lt"/>
        </a:defRPr>
      </a:lvl5pPr>
      <a:lvl6pPr marL="18065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6pPr>
      <a:lvl7pPr marL="22637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7pPr>
      <a:lvl8pPr marL="27209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8pPr>
      <a:lvl9pPr marL="31781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0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0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5.png"/><Relationship Id="rId7" Type="http://schemas.openxmlformats.org/officeDocument/2006/relationships/image" Target="../media/image2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4D097-2924-CEC1-73BB-8E3BF1082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9533" y="2204864"/>
            <a:ext cx="7324934" cy="984885"/>
          </a:xfrm>
        </p:spPr>
        <p:txBody>
          <a:bodyPr/>
          <a:lstStyle/>
          <a:p>
            <a:r>
              <a:rPr lang="en-US" sz="3200" dirty="0"/>
              <a:t>The Dynamic Sporadic Server Algorithm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FA9FE19-29C8-EC15-67F0-749786579BBC}"/>
              </a:ext>
            </a:extLst>
          </p:cNvPr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rPr lang="en-US" dirty="0"/>
              <a:t>By Oleg Kelner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CF7CF1-C1F6-3272-2C76-40FDEA8B6A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580BC1-1C8B-9BB1-0180-1C2AB84C12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0B7D74-49BE-DB11-056A-B67F12142D2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</a:t>
            </a:fld>
            <a:r>
              <a:rPr lang="de-DE"/>
              <a:t> &gt;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2482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F3E24-5234-5DC8-21A2-C995B448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46544D2-7801-6CF0-A011-5CF5413C10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7187C8-6437-1CDF-59CD-4358E6CEE9C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128BED-D2AF-E573-617B-0DFE3ADD8EA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2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E1AB2EEC-6E03-1F7F-AC2A-3BE3209FE2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0E2CCF-775B-C855-503B-5C0908E3FEFC}"/>
                  </a:ext>
                </a:extLst>
              </p:cNvPr>
              <p:cNvSpPr txBox="1"/>
              <p:nvPr/>
            </p:nvSpPr>
            <p:spPr>
              <a:xfrm>
                <a:off x="1115715" y="1756673"/>
                <a:ext cx="6912570" cy="3824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Dynamic Sporadic Server (DSS) – proxy framework for all aperiodic tasks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Server </a:t>
                </a:r>
                <a:r>
                  <a:rPr lang="en-US" sz="1800" i="1" dirty="0"/>
                  <a:t>budget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i="1" dirty="0"/>
                  <a:t> </a:t>
                </a:r>
                <a:r>
                  <a:rPr lang="en-US" sz="1800" dirty="0"/>
                  <a:t>– the maximum execution budget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CPU utilization given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Deadline Assignment:	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/>
                  <a:t> EDF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 err="1"/>
                  <a:t>Schedulability</a:t>
                </a:r>
                <a:r>
                  <a:rPr lang="en-US" sz="1800" dirty="0"/>
                  <a:t> Analysis: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18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0E2CCF-775B-C855-503B-5C0908E3F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15" y="1756673"/>
                <a:ext cx="6912570" cy="38241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3067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26BE5-E4BB-1C21-0865-2698E5786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C57BE0-A40F-1DDA-2802-1E7F9ED2A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504B3E1-77B3-67B4-D25D-CC1B9B37FF9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96731F-2A22-DC92-C7A4-1104DE5BFAB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3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3CCA5C36-2975-E5B1-B55B-BDB2F4D3CB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State Transitions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1C7CCB-AF99-C681-3B52-15377CBD15F1}"/>
                  </a:ext>
                </a:extLst>
              </p:cNvPr>
              <p:cNvSpPr txBox="1"/>
              <p:nvPr/>
            </p:nvSpPr>
            <p:spPr>
              <a:xfrm>
                <a:off x="1115715" y="1736812"/>
                <a:ext cx="6912570" cy="3595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IDLE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b="1" dirty="0"/>
                  <a:t> READY: </a:t>
                </a: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dirty="0"/>
                      <m:t>if</m:t>
                    </m:r>
                    <m:r>
                      <m:rPr>
                        <m:nor/>
                      </m:rPr>
                      <a:rPr lang="en-US" sz="1800" dirty="0"/>
                      <m:t>(</m:t>
                    </m:r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i="1" dirty="0">
                        <a:latin typeface="Cambria Math" panose="02040503050406030204" pitchFamily="18" charset="0"/>
                      </a:rPr>
                      <m:t> &gt; 0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 &amp;&amp; 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𝑝𝑒𝑛𝑑𝑖𝑛𝑔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𝑡𝑎𝑠𝑘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pPr lvl="2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dirty="0"/>
                  <a:t>;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READY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1800" b="1" dirty="0"/>
                  <a:t>EXE: </a:t>
                </a:r>
                <a:r>
                  <a:rPr lang="en-US" sz="1800" dirty="0"/>
                  <a:t>according to EDF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EXE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1800" b="1" dirty="0"/>
                  <a:t>READY: </a:t>
                </a:r>
                <a:r>
                  <a:rPr lang="en-US" sz="1800" dirty="0"/>
                  <a:t>server is preempted by a periodic task with a shorter deadline.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EXE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1800" b="1" dirty="0"/>
                  <a:t>IDLE: </a:t>
                </a:r>
                <a:endParaRPr lang="en-US" sz="1800" dirty="0"/>
              </a:p>
              <a:p>
                <a:pPr lvl="1">
                  <a:lnSpc>
                    <a:spcPct val="150000"/>
                  </a:lnSpc>
                </a:pPr>
                <a:r>
                  <a:rPr lang="en-US" sz="1800" dirty="0"/>
                  <a:t>if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i="1" dirty="0">
                        <a:latin typeface="Cambria Math" panose="02040503050406030204" pitchFamily="18" charset="0"/>
                      </a:rPr>
                      <m:t>= 0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𝑡𝑎𝑠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𝑑𝑜𝑛𝑒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())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1C7CCB-AF99-C681-3B52-15377CBD1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15" y="1736812"/>
                <a:ext cx="6912570" cy="3595856"/>
              </a:xfrm>
              <a:prstGeom prst="rect">
                <a:avLst/>
              </a:prstGeom>
              <a:blipFill>
                <a:blip r:embed="rId2"/>
                <a:stretch>
                  <a:fillRect b="-1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823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0D5E76-9209-577E-662A-2E178FF9249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6228B52-5945-3E7D-BCAF-BF0445C88DA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CE94C0-56AA-4F63-A526-AC51A569F0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4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BB7DC91F-5A21-1847-65F1-76A6C5229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UPPAAL model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4F83CC1-EBCC-561C-95E1-097772681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46" y="1103209"/>
            <a:ext cx="3963611" cy="205992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B11275F-C97C-3202-68FD-61878C1AB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6" y="873734"/>
            <a:ext cx="4806090" cy="272644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884E466-DCAA-1AEF-F596-72B926C647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1526" y="3933056"/>
            <a:ext cx="3762473" cy="23427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F6804DC-8DA5-82D2-BF91-11E126CF5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63" y="3694868"/>
            <a:ext cx="5759159" cy="272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125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6D7ED-9648-92E7-D31A-6B414BD8E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24AFB3F-1442-861D-735C-AB14CF84C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AC054B-7AE3-91CF-9E9F-6B6064EAF34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1D7F136-F29C-3E4D-BD54-42A15D7AA30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5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CC69C23-1CA8-9079-0483-F0861C293A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5D0FA63-BD62-6CC1-A360-0F37CEF583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95" y="926978"/>
            <a:ext cx="6795115" cy="271804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8DE2513-7B8A-9F6F-EF13-1B260F60B0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890" y="3784257"/>
            <a:ext cx="6552220" cy="26208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2D799F-9922-0B54-D1C3-340A34541AF3}"/>
                  </a:ext>
                </a:extLst>
              </p:cNvPr>
              <p:cNvSpPr txBox="1"/>
              <p:nvPr/>
            </p:nvSpPr>
            <p:spPr>
              <a:xfrm>
                <a:off x="8015542" y="4857456"/>
                <a:ext cx="903324" cy="4744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2D799F-9922-0B54-D1C3-340A34541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5542" y="4857456"/>
                <a:ext cx="903324" cy="474489"/>
              </a:xfrm>
              <a:prstGeom prst="rect">
                <a:avLst/>
              </a:prstGeom>
              <a:blipFill>
                <a:blip r:embed="rId4"/>
                <a:stretch>
                  <a:fillRect l="-4730" r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078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D711A-EC1E-4D14-6CC8-F181430A6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153A1E2-619A-6725-4EA7-3953E9628DF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E07262B-1E22-29E8-70DA-B295EBD86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8FDEFE-8218-D86B-ED79-84A5537FA6E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6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59DEB1C1-B531-44EC-90A0-9F2682123F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C20E9E3-6D47-8C34-2EAB-C2482F1E07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890" y="3784257"/>
            <a:ext cx="6552220" cy="26208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5F57179-2DCD-ED96-3FBF-7F39B9A59283}"/>
                  </a:ext>
                </a:extLst>
              </p:cNvPr>
              <p:cNvSpPr txBox="1"/>
              <p:nvPr/>
            </p:nvSpPr>
            <p:spPr>
              <a:xfrm>
                <a:off x="7962414" y="4491972"/>
                <a:ext cx="94134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5F57179-2DCD-ED96-3FBF-7F39B9A5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2414" y="4491972"/>
                <a:ext cx="941348" cy="1205458"/>
              </a:xfrm>
              <a:prstGeom prst="rect">
                <a:avLst/>
              </a:prstGeom>
              <a:blipFill>
                <a:blip r:embed="rId3"/>
                <a:stretch>
                  <a:fillRect l="-1935" r="-645"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D50C094-D3EF-59DD-EB42-2F680EC70E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894" y="1047848"/>
            <a:ext cx="6552216" cy="26208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93817A3-CA3A-2F0D-950E-308EA053508A}"/>
                  </a:ext>
                </a:extLst>
              </p:cNvPr>
              <p:cNvSpPr txBox="1"/>
              <p:nvPr/>
            </p:nvSpPr>
            <p:spPr>
              <a:xfrm>
                <a:off x="7870813" y="1818209"/>
                <a:ext cx="1289327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93817A3-CA3A-2F0D-950E-308EA0535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813" y="1818209"/>
                <a:ext cx="1289327" cy="1205458"/>
              </a:xfrm>
              <a:prstGeom prst="rect">
                <a:avLst/>
              </a:prstGeom>
              <a:blipFill>
                <a:blip r:embed="rId5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3505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09B63-E9D3-339B-2475-AD6A0A0AC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AB5D9D4-5D25-1DD5-7909-DB8D4C2047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3EFF270-D0DB-DD8F-28CA-7C35BECC7D4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6C50CD-537B-9867-0829-A808C74022B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7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C84ED15-8B28-0E9F-C636-A2F1B98FA3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42453C0-1C63-55C6-1368-1010164C0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6712"/>
            <a:ext cx="4572000" cy="27432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B857FBA-7125-4AAE-ADEA-1EF10DAE6F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836712"/>
            <a:ext cx="4572000" cy="27432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AB9B395-4E5A-1F89-EEB1-06E2EE97D9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9520"/>
            <a:ext cx="4572000" cy="27432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99F86C-7D02-6D49-6BCE-EFA2469630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40" y="3579520"/>
            <a:ext cx="4572000" cy="274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99661C2-351F-FFE4-43C0-4007ABFA17CB}"/>
                  </a:ext>
                </a:extLst>
              </p:cNvPr>
              <p:cNvSpPr txBox="1"/>
              <p:nvPr/>
            </p:nvSpPr>
            <p:spPr>
              <a:xfrm>
                <a:off x="3059832" y="1586615"/>
                <a:ext cx="111767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99661C2-351F-FFE4-43C0-4007ABFA17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2" y="1586615"/>
                <a:ext cx="1117678" cy="1205458"/>
              </a:xfrm>
              <a:prstGeom prst="rect">
                <a:avLst/>
              </a:prstGeom>
              <a:blipFill>
                <a:blip r:embed="rId6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06FF81D-B882-2FAC-6C6E-5B5926834692}"/>
                  </a:ext>
                </a:extLst>
              </p:cNvPr>
              <p:cNvSpPr txBox="1"/>
              <p:nvPr/>
            </p:nvSpPr>
            <p:spPr>
              <a:xfrm>
                <a:off x="7720470" y="1605583"/>
                <a:ext cx="111767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06FF81D-B882-2FAC-6C6E-5B5926834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0470" y="1605583"/>
                <a:ext cx="1117678" cy="1205458"/>
              </a:xfrm>
              <a:prstGeom prst="rect">
                <a:avLst/>
              </a:prstGeom>
              <a:blipFill>
                <a:blip r:embed="rId7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D0A0AC-3210-C36F-B729-11E6DE76CC0B}"/>
                  </a:ext>
                </a:extLst>
              </p:cNvPr>
              <p:cNvSpPr txBox="1"/>
              <p:nvPr/>
            </p:nvSpPr>
            <p:spPr>
              <a:xfrm>
                <a:off x="3059832" y="4292600"/>
                <a:ext cx="114864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11.54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D0A0AC-3210-C36F-B729-11E6DE76C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2" y="4292600"/>
                <a:ext cx="1148648" cy="1205458"/>
              </a:xfrm>
              <a:prstGeom prst="rect">
                <a:avLst/>
              </a:prstGeom>
              <a:blipFill>
                <a:blip r:embed="rId8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2BEC1C-C3F8-B721-3D5F-56A9BB82E4AA}"/>
                  </a:ext>
                </a:extLst>
              </p:cNvPr>
              <p:cNvSpPr txBox="1"/>
              <p:nvPr/>
            </p:nvSpPr>
            <p:spPr>
              <a:xfrm>
                <a:off x="7723918" y="4292600"/>
                <a:ext cx="1046377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10.71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2BEC1C-C3F8-B721-3D5F-56A9BB82E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918" y="4292600"/>
                <a:ext cx="1046377" cy="1205458"/>
              </a:xfrm>
              <a:prstGeom prst="rect">
                <a:avLst/>
              </a:prstGeom>
              <a:blipFill>
                <a:blip r:embed="rId9"/>
                <a:stretch>
                  <a:fillRect l="-2907" r="-2326"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3297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B987A-3F07-C1EC-FAFB-BB3759218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3074646-6D33-D608-0E08-BE97C5B35E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75037-2149-1F0D-0CB2-F1FAA4A5039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26DD6B-1562-79BB-3284-5862AE0B74A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8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CE8B5DCC-1489-2D0D-8674-75B130DB92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B930C43-F4B4-A05D-0C98-35C9CB131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6712"/>
            <a:ext cx="4572000" cy="27432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A770027-BB63-449A-6EC6-368ABD541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40" y="836712"/>
            <a:ext cx="4572000" cy="274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2C6C7D-9D1B-3CF8-03FF-9974ACF773DC}"/>
                  </a:ext>
                </a:extLst>
              </p:cNvPr>
              <p:cNvSpPr txBox="1"/>
              <p:nvPr/>
            </p:nvSpPr>
            <p:spPr>
              <a:xfrm>
                <a:off x="3059832" y="1549792"/>
                <a:ext cx="114864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11.54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2C6C7D-9D1B-3CF8-03FF-9974ACF77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2" y="1549792"/>
                <a:ext cx="1148648" cy="1205458"/>
              </a:xfrm>
              <a:prstGeom prst="rect">
                <a:avLst/>
              </a:prstGeom>
              <a:blipFill>
                <a:blip r:embed="rId4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605ABD-4F30-FF28-6651-B1813099A86B}"/>
                  </a:ext>
                </a:extLst>
              </p:cNvPr>
              <p:cNvSpPr txBox="1"/>
              <p:nvPr/>
            </p:nvSpPr>
            <p:spPr>
              <a:xfrm>
                <a:off x="7723918" y="1549792"/>
                <a:ext cx="1046377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10.71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605ABD-4F30-FF28-6651-B1813099A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918" y="1549792"/>
                <a:ext cx="1046377" cy="1205458"/>
              </a:xfrm>
              <a:prstGeom prst="rect">
                <a:avLst/>
              </a:prstGeom>
              <a:blipFill>
                <a:blip r:embed="rId5"/>
                <a:stretch>
                  <a:fillRect l="-2907" r="-2326"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AE0FD6B-342F-6FBD-F8B5-D82F6CEF2D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385" y="3579912"/>
            <a:ext cx="4567261" cy="27403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D48BD3-A05A-EE61-170A-C35863B68F53}"/>
                  </a:ext>
                </a:extLst>
              </p:cNvPr>
              <p:cNvSpPr txBox="1"/>
              <p:nvPr/>
            </p:nvSpPr>
            <p:spPr>
              <a:xfrm>
                <a:off x="7560193" y="4221088"/>
                <a:ext cx="1017523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D48BD3-A05A-EE61-170A-C35863B68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0193" y="4221088"/>
                <a:ext cx="1017523" cy="1205458"/>
              </a:xfrm>
              <a:prstGeom prst="rect">
                <a:avLst/>
              </a:prstGeom>
              <a:blipFill>
                <a:blip r:embed="rId7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4111D-5937-7450-21C3-A8F8772D8C87}"/>
                  </a:ext>
                </a:extLst>
              </p:cNvPr>
              <p:cNvSpPr txBox="1"/>
              <p:nvPr/>
            </p:nvSpPr>
            <p:spPr>
              <a:xfrm>
                <a:off x="175531" y="3926953"/>
                <a:ext cx="4101405" cy="2098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Reduction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dirty="0"/>
                  <a:t> allow higher response time even when utilization becomes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en-US" sz="1800" b="0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However,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dirty="0"/>
                  <a:t> becomes smaller than task execution time, it introduces additional delay due to budget exhaustion.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4111D-5937-7450-21C3-A8F8772D8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531" y="3926953"/>
                <a:ext cx="4101405" cy="2098331"/>
              </a:xfrm>
              <a:prstGeom prst="rect">
                <a:avLst/>
              </a:prstGeom>
              <a:blipFill>
                <a:blip r:embed="rId8"/>
                <a:stretch>
                  <a:fillRect l="-149" t="-1453" r="-2229" b="-3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1255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1CD7-3AC1-1C8A-2971-20B64305E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1EE46A5-2617-2A2A-CBB7-8C0A44BF97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51F8EA-599A-FA77-6B9A-A35A1D44085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8601E2-1C50-D0E6-0E0E-9FA36F04777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9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C8813ED2-CCD4-0524-BE46-740508092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87D3450-1E77-AAE7-E576-C74BBEB2E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6712"/>
            <a:ext cx="4572000" cy="274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634AEC8-57BF-6391-2BFC-513D76E6E0B9}"/>
                  </a:ext>
                </a:extLst>
              </p:cNvPr>
              <p:cNvSpPr txBox="1"/>
              <p:nvPr/>
            </p:nvSpPr>
            <p:spPr>
              <a:xfrm>
                <a:off x="182563" y="3695147"/>
                <a:ext cx="1073627" cy="4360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634AEC8-57BF-6391-2BFC-513D76E6E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563" y="3695147"/>
                <a:ext cx="1073627" cy="436081"/>
              </a:xfrm>
              <a:prstGeom prst="rect">
                <a:avLst/>
              </a:prstGeom>
              <a:blipFill>
                <a:blip r:embed="rId3"/>
                <a:stretch>
                  <a:fillRect l="-1136" b="-69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947468-2A8E-CA14-2B96-5BB53F34613D}"/>
                  </a:ext>
                </a:extLst>
              </p:cNvPr>
              <p:cNvSpPr txBox="1"/>
              <p:nvPr/>
            </p:nvSpPr>
            <p:spPr>
              <a:xfrm>
                <a:off x="3053255" y="2080072"/>
                <a:ext cx="991232" cy="2564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=0.025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947468-2A8E-CA14-2B96-5BB53F34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255" y="2080072"/>
                <a:ext cx="991232" cy="256480"/>
              </a:xfrm>
              <a:prstGeom prst="rect">
                <a:avLst/>
              </a:prstGeom>
              <a:blipFill>
                <a:blip r:embed="rId4"/>
                <a:stretch>
                  <a:fillRect l="-4321" t="-2381" r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8B28695-829E-5853-C278-5E5E32CA1E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20" y="836712"/>
            <a:ext cx="4572000" cy="27432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6C3323E-90FF-8B3D-E5AF-11C7F6D92D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920" y="3579912"/>
            <a:ext cx="4572000" cy="274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C92F6C5-3944-2A93-9BB1-E364E7E99178}"/>
                  </a:ext>
                </a:extLst>
              </p:cNvPr>
              <p:cNvSpPr txBox="1"/>
              <p:nvPr/>
            </p:nvSpPr>
            <p:spPr>
              <a:xfrm>
                <a:off x="7919250" y="2080072"/>
                <a:ext cx="877420" cy="2564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=0.05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C92F6C5-3944-2A93-9BB1-E364E7E99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250" y="2080072"/>
                <a:ext cx="877420" cy="256480"/>
              </a:xfrm>
              <a:prstGeom prst="rect">
                <a:avLst/>
              </a:prstGeom>
              <a:blipFill>
                <a:blip r:embed="rId7"/>
                <a:stretch>
                  <a:fillRect l="-4167" t="-2381" r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BAFEC0-8B12-5753-E70A-6F0E9675E252}"/>
                  </a:ext>
                </a:extLst>
              </p:cNvPr>
              <p:cNvSpPr txBox="1"/>
              <p:nvPr/>
            </p:nvSpPr>
            <p:spPr>
              <a:xfrm>
                <a:off x="7919250" y="4861670"/>
                <a:ext cx="763607" cy="2564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BAFEC0-8B12-5753-E70A-6F0E9675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250" y="4861670"/>
                <a:ext cx="763607" cy="256480"/>
              </a:xfrm>
              <a:prstGeom prst="rect">
                <a:avLst/>
              </a:prstGeom>
              <a:blipFill>
                <a:blip r:embed="rId8"/>
                <a:stretch>
                  <a:fillRect l="-4800" r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9387B188-F742-A09C-D91E-344A099E4B9A}"/>
              </a:ext>
            </a:extLst>
          </p:cNvPr>
          <p:cNvSpPr txBox="1"/>
          <p:nvPr/>
        </p:nvSpPr>
        <p:spPr>
          <a:xfrm>
            <a:off x="182563" y="4581128"/>
            <a:ext cx="4101405" cy="17927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For the increased frequency of aperiodic task generation, it is clear, that at some point the performance of DSS decreases.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Sometimes even worse than Background Scheduler</a:t>
            </a:r>
          </a:p>
        </p:txBody>
      </p:sp>
    </p:spTree>
    <p:extLst>
      <p:ext uri="{BB962C8B-B14F-4D97-AF65-F5344CB8AC3E}">
        <p14:creationId xmlns:p14="http://schemas.microsoft.com/office/powerpoint/2010/main" val="22680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A3DCF-508E-B2FB-A957-8EC6446C4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BB6C7D-732C-5C79-FDC3-C76542D232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FC4770-E0FD-719C-7A8E-604F6D27294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7045B-7EF2-499A-F96C-5FC0857AF10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10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DF0EE4D-5E5D-CCB9-8E8A-809BB9A0B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Conclusion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D8605C-04C0-97E6-5812-D584E1482374}"/>
              </a:ext>
            </a:extLst>
          </p:cNvPr>
          <p:cNvSpPr txBox="1"/>
          <p:nvPr/>
        </p:nvSpPr>
        <p:spPr>
          <a:xfrm>
            <a:off x="506157" y="2290226"/>
            <a:ext cx="8131686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Achieves low response times with proper configuration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Although the calibration is highly fiddly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Behaves great with low aperiodic task frequency</a:t>
            </a:r>
          </a:p>
        </p:txBody>
      </p:sp>
    </p:spTree>
    <p:extLst>
      <p:ext uri="{BB962C8B-B14F-4D97-AF65-F5344CB8AC3E}">
        <p14:creationId xmlns:p14="http://schemas.microsoft.com/office/powerpoint/2010/main" val="3770422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0D156-931B-5E93-7F4E-1AA42C486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5D6AF9B-CA16-9C49-C8ED-5262BF3FED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8B5FE7-2A2B-D113-1989-99C5D934535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26C31A-9B21-A5BD-3E62-E9A23410E1D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11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FB4653-96F7-C0A9-23F9-304988710D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BC5FF4-CACB-A3EB-8C0D-2099828F9727}"/>
              </a:ext>
            </a:extLst>
          </p:cNvPr>
          <p:cNvSpPr txBox="1"/>
          <p:nvPr/>
        </p:nvSpPr>
        <p:spPr>
          <a:xfrm>
            <a:off x="325053" y="1268760"/>
            <a:ext cx="8493893" cy="4565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L. Abeni and G. </a:t>
            </a:r>
            <a:r>
              <a:rPr lang="en-US" dirty="0" err="1"/>
              <a:t>Buttazzo</a:t>
            </a:r>
            <a:r>
              <a:rPr lang="en-US" dirty="0"/>
              <a:t>, ‘Integrating multimedia applications in hard real-time systems’, </a:t>
            </a:r>
            <a:r>
              <a:rPr lang="en-US" i="1" dirty="0"/>
              <a:t>Proceedings - Real-Time Systems Symposium</a:t>
            </a:r>
            <a:r>
              <a:rPr lang="en-US" dirty="0"/>
              <a:t>, pp. 4–13, 1998, </a:t>
            </a:r>
            <a:r>
              <a:rPr lang="en-US" dirty="0" err="1"/>
              <a:t>doi</a:t>
            </a:r>
            <a:r>
              <a:rPr lang="en-US" dirty="0"/>
              <a:t>: 10.1109/REAL.1998.739726.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B. Sprunt, L. Sha, and J. Lehoczky, ‘Aperiodic task scheduling for Hard-Real-Time systems’, </a:t>
            </a:r>
            <a:r>
              <a:rPr lang="en-US" i="1" dirty="0"/>
              <a:t>Real-Time Systems 1989 1:1</a:t>
            </a:r>
            <a:r>
              <a:rPr lang="en-US" dirty="0"/>
              <a:t>, vol. 1, no. 1, pp. 27–60, 1989, </a:t>
            </a:r>
            <a:r>
              <a:rPr lang="en-US" dirty="0" err="1"/>
              <a:t>doi</a:t>
            </a:r>
            <a:r>
              <a:rPr lang="en-US" dirty="0"/>
              <a:t>: 10.1007/BF02341920.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J. K. Strosnider, J. P. Lehoczky, and L. Sha, ‘The Deferrable Server Algorithm for Enhanced Aperiodic Responsiveness in Hard Real-Time Environments’, </a:t>
            </a:r>
            <a:r>
              <a:rPr lang="en-US" i="1" dirty="0"/>
              <a:t>IEEE Transactions on Computers</a:t>
            </a:r>
            <a:r>
              <a:rPr lang="en-US" dirty="0"/>
              <a:t>, vol. 44, no. 1, pp. 73–91, 1995, </a:t>
            </a:r>
            <a:r>
              <a:rPr lang="en-US" dirty="0" err="1"/>
              <a:t>doi</a:t>
            </a:r>
            <a:r>
              <a:rPr lang="en-US" dirty="0"/>
              <a:t>: 10.1109/12.368008.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M. </a:t>
            </a:r>
            <a:r>
              <a:rPr lang="en-US" dirty="0" err="1"/>
              <a:t>Spuri</a:t>
            </a:r>
            <a:r>
              <a:rPr lang="en-US" dirty="0"/>
              <a:t> and G. </a:t>
            </a:r>
            <a:r>
              <a:rPr lang="en-US" dirty="0" err="1"/>
              <a:t>Buttazzo</a:t>
            </a:r>
            <a:r>
              <a:rPr lang="en-US" dirty="0"/>
              <a:t>, ‘Scheduling aperiodic tasks in dynamic priority systems’, </a:t>
            </a:r>
            <a:r>
              <a:rPr lang="en-US" i="1" dirty="0"/>
              <a:t>Real-Time Systems</a:t>
            </a:r>
            <a:r>
              <a:rPr lang="en-US" dirty="0"/>
              <a:t>, vol. 10, no. 2, pp. 179–210, Mar. 1996, </a:t>
            </a:r>
            <a:r>
              <a:rPr lang="en-US" dirty="0" err="1"/>
              <a:t>doi</a:t>
            </a:r>
            <a:r>
              <a:rPr lang="en-US" dirty="0"/>
              <a:t>: 10.1007/BF00360340.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ChatGPT (OpenAI, GPT-5.5) was used to assist in the development of the simulation code, literature analysis, and drafting of non-technical text. All generated content was reviewed and validated by the authors.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19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4ADB1-04ED-ACC2-952B-BA63C642D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247CD-F39D-92B9-AA4D-3FEBCD718D6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CA3B728-0B9F-CAE3-3EE7-6165420D41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22.06.2026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CCA7ED-17D9-EA2E-3EF9-7B36A6AD0C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12</a:t>
            </a:fld>
            <a:r>
              <a:rPr lang="de-DE"/>
              <a:t> &gt;</a:t>
            </a:r>
            <a:endParaRPr lang="de-DE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FF10F6D-8750-D564-C2EA-EA58FD383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22" y="1600041"/>
            <a:ext cx="7803556" cy="3657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22007"/>
      </p:ext>
    </p:extLst>
  </p:cSld>
  <p:clrMapOvr>
    <a:masterClrMapping/>
  </p:clrMapOvr>
</p:sld>
</file>

<file path=ppt/theme/theme1.xml><?xml version="1.0" encoding="utf-8"?>
<a:theme xmlns:a="http://schemas.openxmlformats.org/drawingml/2006/main" name="1_STANDARD">
  <a:themeElements>
    <a:clrScheme name="STANDARD 1">
      <a:dk1>
        <a:srgbClr val="000000"/>
      </a:dk1>
      <a:lt1>
        <a:srgbClr val="FFFFFF"/>
      </a:lt1>
      <a:dk2>
        <a:srgbClr val="00197D"/>
      </a:dk2>
      <a:lt2>
        <a:srgbClr val="646464"/>
      </a:lt2>
      <a:accent1>
        <a:srgbClr val="0078F0"/>
      </a:accent1>
      <a:accent2>
        <a:srgbClr val="6EAA23"/>
      </a:accent2>
      <a:accent3>
        <a:srgbClr val="FFFFFF"/>
      </a:accent3>
      <a:accent4>
        <a:srgbClr val="000000"/>
      </a:accent4>
      <a:accent5>
        <a:srgbClr val="AABEF6"/>
      </a:accent5>
      <a:accent6>
        <a:srgbClr val="639A1F"/>
      </a:accent6>
      <a:hlink>
        <a:srgbClr val="00197D"/>
      </a:hlink>
      <a:folHlink>
        <a:srgbClr val="FF8700"/>
      </a:folHlink>
    </a:clrScheme>
    <a:fontScheme name="STANDAR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88900" marR="0" indent="-88900" algn="l" defTabSz="914400" rtl="0" eaLnBrk="1" fontAlgn="base" latinLnBrk="0" hangingPunct="1">
          <a:lnSpc>
            <a:spcPts val="1700"/>
          </a:lnSpc>
          <a:spcBef>
            <a:spcPct val="0"/>
          </a:spcBef>
          <a:spcAft>
            <a:spcPts val="300"/>
          </a:spcAft>
          <a:buClr>
            <a:schemeClr val="tx2"/>
          </a:buClr>
          <a:buSzPct val="70000"/>
          <a:buFont typeface="Arial" pitchFamily="34" charset="0"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bg2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88900" marR="0" indent="-88900" algn="l" defTabSz="914400" rtl="0" eaLnBrk="1" fontAlgn="base" latinLnBrk="0" hangingPunct="1">
          <a:lnSpc>
            <a:spcPts val="1700"/>
          </a:lnSpc>
          <a:spcBef>
            <a:spcPct val="0"/>
          </a:spcBef>
          <a:spcAft>
            <a:spcPts val="300"/>
          </a:spcAft>
          <a:buClr>
            <a:schemeClr val="tx2"/>
          </a:buClr>
          <a:buSzPct val="70000"/>
          <a:buFont typeface="Arial" pitchFamily="34" charset="0"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bg2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STANDARD 1">
        <a:dk1>
          <a:srgbClr val="000000"/>
        </a:dk1>
        <a:lt1>
          <a:srgbClr val="FFFFFF"/>
        </a:lt1>
        <a:dk2>
          <a:srgbClr val="00197D"/>
        </a:dk2>
        <a:lt2>
          <a:srgbClr val="646464"/>
        </a:lt2>
        <a:accent1>
          <a:srgbClr val="0078F0"/>
        </a:accent1>
        <a:accent2>
          <a:srgbClr val="6EAA23"/>
        </a:accent2>
        <a:accent3>
          <a:srgbClr val="FFFFFF"/>
        </a:accent3>
        <a:accent4>
          <a:srgbClr val="000000"/>
        </a:accent4>
        <a:accent5>
          <a:srgbClr val="AABEF6"/>
        </a:accent5>
        <a:accent6>
          <a:srgbClr val="639A1F"/>
        </a:accent6>
        <a:hlink>
          <a:srgbClr val="00197D"/>
        </a:hlink>
        <a:folHlink>
          <a:srgbClr val="FF87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720</Words>
  <Application>Microsoft Office PowerPoint</Application>
  <PresentationFormat>Экран (4:3)</PresentationFormat>
  <Paragraphs>124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Cambria Math</vt:lpstr>
      <vt:lpstr>Wingdings 3</vt:lpstr>
      <vt:lpstr>1_STANDARD</vt:lpstr>
      <vt:lpstr>The Dynamic Sporadic Server Algorithm</vt:lpstr>
      <vt:lpstr>Algorithm</vt:lpstr>
      <vt:lpstr>State Transitions</vt:lpstr>
      <vt:lpstr>UPPAAL model</vt:lpstr>
      <vt:lpstr>Implementation</vt:lpstr>
      <vt:lpstr>Implementation</vt:lpstr>
      <vt:lpstr>Implementation</vt:lpstr>
      <vt:lpstr>Implementation</vt:lpstr>
      <vt:lpstr>Implementation</vt:lpstr>
      <vt:lpstr>Conclusion</vt:lpstr>
      <vt:lpstr>References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HSHL</dc:title>
  <dc:creator>Prof. Dr. Henkler, Stefan</dc:creator>
  <cp:lastModifiedBy>Oleg Kelner</cp:lastModifiedBy>
  <cp:revision>754</cp:revision>
  <cp:lastPrinted>2016-03-22T17:20:48Z</cp:lastPrinted>
  <dcterms:created xsi:type="dcterms:W3CDTF">2008-08-13T11:47:09Z</dcterms:created>
  <dcterms:modified xsi:type="dcterms:W3CDTF">2026-06-22T09:42:57Z</dcterms:modified>
</cp:coreProperties>
</file>