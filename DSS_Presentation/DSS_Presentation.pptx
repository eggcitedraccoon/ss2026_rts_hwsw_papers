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0" r:id="rId1"/>
  </p:sldMasterIdLst>
  <p:notesMasterIdLst>
    <p:notesMasterId r:id="rId10"/>
  </p:notesMasterIdLst>
  <p:handoutMasterIdLst>
    <p:handoutMasterId r:id="rId11"/>
  </p:handoutMasterIdLst>
  <p:sldIdLst>
    <p:sldId id="258" r:id="rId2"/>
    <p:sldId id="259" r:id="rId3"/>
    <p:sldId id="260" r:id="rId4"/>
    <p:sldId id="269" r:id="rId5"/>
    <p:sldId id="265" r:id="rId6"/>
    <p:sldId id="270" r:id="rId7"/>
    <p:sldId id="271" r:id="rId8"/>
    <p:sldId id="268" r:id="rId9"/>
  </p:sldIdLst>
  <p:sldSz cx="9144000" cy="6858000" type="screen4x3"/>
  <p:notesSz cx="6797675" cy="9926638"/>
  <p:defaultTextStyle>
    <a:defPPr>
      <a:defRPr lang="de-DE"/>
    </a:defPPr>
    <a:lvl1pPr algn="l" rtl="0" fontAlgn="base">
      <a:lnSpc>
        <a:spcPts val="1700"/>
      </a:lnSpc>
      <a:spcBef>
        <a:spcPct val="0"/>
      </a:spcBef>
      <a:spcAft>
        <a:spcPts val="300"/>
      </a:spcAft>
      <a:buClr>
        <a:schemeClr val="tx2"/>
      </a:buClr>
      <a:buSzPct val="70000"/>
      <a:buFont typeface="Arial" charset="0"/>
      <a:defRPr sz="1600" kern="1200">
        <a:solidFill>
          <a:schemeClr val="bg2"/>
        </a:solidFill>
        <a:latin typeface="Arial" charset="0"/>
        <a:ea typeface="+mn-ea"/>
        <a:cs typeface="+mn-cs"/>
      </a:defRPr>
    </a:lvl1pPr>
    <a:lvl2pPr marL="457200" algn="l" rtl="0" fontAlgn="base">
      <a:lnSpc>
        <a:spcPts val="1700"/>
      </a:lnSpc>
      <a:spcBef>
        <a:spcPct val="0"/>
      </a:spcBef>
      <a:spcAft>
        <a:spcPts val="300"/>
      </a:spcAft>
      <a:buClr>
        <a:schemeClr val="tx2"/>
      </a:buClr>
      <a:buSzPct val="70000"/>
      <a:buFont typeface="Arial" charset="0"/>
      <a:defRPr sz="1600" kern="1200">
        <a:solidFill>
          <a:schemeClr val="bg2"/>
        </a:solidFill>
        <a:latin typeface="Arial" charset="0"/>
        <a:ea typeface="+mn-ea"/>
        <a:cs typeface="+mn-cs"/>
      </a:defRPr>
    </a:lvl2pPr>
    <a:lvl3pPr marL="914400" algn="l" rtl="0" fontAlgn="base">
      <a:lnSpc>
        <a:spcPts val="1700"/>
      </a:lnSpc>
      <a:spcBef>
        <a:spcPct val="0"/>
      </a:spcBef>
      <a:spcAft>
        <a:spcPts val="300"/>
      </a:spcAft>
      <a:buClr>
        <a:schemeClr val="tx2"/>
      </a:buClr>
      <a:buSzPct val="70000"/>
      <a:buFont typeface="Arial" charset="0"/>
      <a:defRPr sz="1600" kern="1200">
        <a:solidFill>
          <a:schemeClr val="bg2"/>
        </a:solidFill>
        <a:latin typeface="Arial" charset="0"/>
        <a:ea typeface="+mn-ea"/>
        <a:cs typeface="+mn-cs"/>
      </a:defRPr>
    </a:lvl3pPr>
    <a:lvl4pPr marL="1371600" algn="l" rtl="0" fontAlgn="base">
      <a:lnSpc>
        <a:spcPts val="1700"/>
      </a:lnSpc>
      <a:spcBef>
        <a:spcPct val="0"/>
      </a:spcBef>
      <a:spcAft>
        <a:spcPts val="300"/>
      </a:spcAft>
      <a:buClr>
        <a:schemeClr val="tx2"/>
      </a:buClr>
      <a:buSzPct val="70000"/>
      <a:buFont typeface="Arial" charset="0"/>
      <a:defRPr sz="1600" kern="1200">
        <a:solidFill>
          <a:schemeClr val="bg2"/>
        </a:solidFill>
        <a:latin typeface="Arial" charset="0"/>
        <a:ea typeface="+mn-ea"/>
        <a:cs typeface="+mn-cs"/>
      </a:defRPr>
    </a:lvl4pPr>
    <a:lvl5pPr marL="1828800" algn="l" rtl="0" fontAlgn="base">
      <a:lnSpc>
        <a:spcPts val="1700"/>
      </a:lnSpc>
      <a:spcBef>
        <a:spcPct val="0"/>
      </a:spcBef>
      <a:spcAft>
        <a:spcPts val="300"/>
      </a:spcAft>
      <a:buClr>
        <a:schemeClr val="tx2"/>
      </a:buClr>
      <a:buSzPct val="70000"/>
      <a:buFont typeface="Arial" charset="0"/>
      <a:defRPr sz="1600" kern="1200">
        <a:solidFill>
          <a:schemeClr val="bg2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bg2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bg2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bg2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bg2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5">
          <p15:clr>
            <a:srgbClr val="A4A3A4"/>
          </p15:clr>
        </p15:guide>
        <p15:guide id="2" orient="horz" pos="1049">
          <p15:clr>
            <a:srgbClr val="A4A3A4"/>
          </p15:clr>
        </p15:guide>
        <p15:guide id="3" orient="horz" pos="4156">
          <p15:clr>
            <a:srgbClr val="A4A3A4"/>
          </p15:clr>
        </p15:guide>
        <p15:guide id="4" orient="horz" pos="1525">
          <p15:clr>
            <a:srgbClr val="A4A3A4"/>
          </p15:clr>
        </p15:guide>
        <p15:guide id="5" orient="horz" pos="2704">
          <p15:clr>
            <a:srgbClr val="A4A3A4"/>
          </p15:clr>
        </p15:guide>
        <p15:guide id="6" orient="horz" pos="1842">
          <p15:clr>
            <a:srgbClr val="A4A3A4"/>
          </p15:clr>
        </p15:guide>
        <p15:guide id="7" orient="horz" pos="3475">
          <p15:clr>
            <a:srgbClr val="A4A3A4"/>
          </p15:clr>
        </p15:guide>
        <p15:guide id="8" orient="horz" pos="845">
          <p15:clr>
            <a:srgbClr val="A4A3A4"/>
          </p15:clr>
        </p15:guide>
        <p15:guide id="9" pos="3742">
          <p15:clr>
            <a:srgbClr val="A4A3A4"/>
          </p15:clr>
        </p15:guide>
        <p15:guide id="10" pos="2608">
          <p15:clr>
            <a:srgbClr val="A4A3A4"/>
          </p15:clr>
        </p15:guide>
        <p15:guide id="11" pos="1474">
          <p15:clr>
            <a:srgbClr val="A4A3A4"/>
          </p15:clr>
        </p15:guide>
        <p15:guide id="12" pos="340">
          <p15:clr>
            <a:srgbClr val="A4A3A4"/>
          </p15:clr>
        </p15:guide>
        <p15:guide id="13" pos="3515">
          <p15:clr>
            <a:srgbClr val="A4A3A4"/>
          </p15:clr>
        </p15:guide>
        <p15:guide id="14" pos="385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90FF"/>
    <a:srgbClr val="FF6621"/>
    <a:srgbClr val="7E4200"/>
    <a:srgbClr val="001E87"/>
    <a:srgbClr val="666699"/>
    <a:srgbClr val="800000"/>
    <a:srgbClr val="99CC00"/>
    <a:srgbClr val="993300"/>
    <a:srgbClr val="0021AC"/>
    <a:srgbClr val="001C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54" autoAdjust="0"/>
    <p:restoredTop sz="96340" autoAdjust="0"/>
  </p:normalViewPr>
  <p:slideViewPr>
    <p:cSldViewPr>
      <p:cViewPr>
        <p:scale>
          <a:sx n="125" d="100"/>
          <a:sy n="125" d="100"/>
        </p:scale>
        <p:origin x="1326" y="-252"/>
      </p:cViewPr>
      <p:guideLst>
        <p:guide orient="horz" pos="595"/>
        <p:guide orient="horz" pos="1049"/>
        <p:guide orient="horz" pos="4156"/>
        <p:guide orient="horz" pos="1525"/>
        <p:guide orient="horz" pos="2704"/>
        <p:guide orient="horz" pos="1842"/>
        <p:guide orient="horz" pos="3475"/>
        <p:guide orient="horz" pos="845"/>
        <p:guide pos="3742"/>
        <p:guide pos="2608"/>
        <p:guide pos="1474"/>
        <p:guide pos="340"/>
        <p:guide pos="3515"/>
        <p:guide pos="38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-2730" y="-120"/>
      </p:cViewPr>
      <p:guideLst>
        <p:guide orient="horz" pos="3127"/>
        <p:guide pos="214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30" name="Rectangle 14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544179" y="76987"/>
            <a:ext cx="4853528" cy="261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55731" ea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 sz="1600" b="1">
                <a:solidFill>
                  <a:schemeClr val="tx1"/>
                </a:solidFill>
                <a:latin typeface="Arial" pitchFamily="34" charset="0"/>
                <a:ea typeface="ヒラギノ角ゴ Pro W3" pitchFamily="96" charset="-128"/>
              </a:defRPr>
            </a:lvl1pPr>
          </a:lstStyle>
          <a:p>
            <a:pPr>
              <a:defRPr/>
            </a:pPr>
            <a:r>
              <a:rPr lang="de-DE"/>
              <a:t>OFFIS</a:t>
            </a:r>
          </a:p>
        </p:txBody>
      </p:sp>
      <p:sp>
        <p:nvSpPr>
          <p:cNvPr id="86031" name="Rectangle 15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44179" y="338741"/>
            <a:ext cx="4853528" cy="22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defTabSz="955731" ea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 sz="1100">
                <a:latin typeface="Arial" pitchFamily="34" charset="0"/>
                <a:ea typeface="ヒラギノ角ゴ Pro W3" pitchFamily="96" charset="-128"/>
              </a:defRPr>
            </a:lvl1pPr>
          </a:lstStyle>
          <a:p>
            <a:pPr>
              <a:defRPr/>
            </a:pPr>
            <a:fld id="{4E0C06B7-C559-4809-80E3-2886171D3968}" type="datetime1">
              <a:rPr lang="de-DE" smtClean="0"/>
              <a:t>21.06.2026</a:t>
            </a:fld>
            <a:endParaRPr lang="de-DE"/>
          </a:p>
        </p:txBody>
      </p:sp>
      <p:sp>
        <p:nvSpPr>
          <p:cNvPr id="39940" name="Rectangle 16"/>
          <p:cNvSpPr>
            <a:spLocks noChangeArrowheads="1"/>
          </p:cNvSpPr>
          <p:nvPr/>
        </p:nvSpPr>
        <p:spPr bwMode="auto">
          <a:xfrm>
            <a:off x="595861" y="9684900"/>
            <a:ext cx="5657636" cy="16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/>
          <a:p>
            <a:pPr algn="ctr" defTabSz="955731" eaLnBrk="0" hangingPunct="0">
              <a:lnSpc>
                <a:spcPct val="100000"/>
              </a:lnSpc>
              <a:spcAft>
                <a:spcPct val="0"/>
              </a:spcAft>
              <a:buClrTx/>
              <a:buSzTx/>
            </a:pPr>
            <a:endParaRPr lang="en-US" sz="1100">
              <a:ea typeface="ヒラギノ角ゴ Pro W3" pitchFamily="96" charset="-128"/>
            </a:endParaRPr>
          </a:p>
        </p:txBody>
      </p:sp>
      <p:sp>
        <p:nvSpPr>
          <p:cNvPr id="39941" name="Rectangle 17"/>
          <p:cNvSpPr>
            <a:spLocks noChangeArrowheads="1"/>
          </p:cNvSpPr>
          <p:nvPr/>
        </p:nvSpPr>
        <p:spPr bwMode="auto">
          <a:xfrm>
            <a:off x="0" y="76987"/>
            <a:ext cx="472737" cy="261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/>
          <a:p>
            <a:pPr algn="r" defTabSz="955731" eaLnBrk="0" hangingPunct="0">
              <a:lnSpc>
                <a:spcPct val="100000"/>
              </a:lnSpc>
              <a:spcAft>
                <a:spcPct val="0"/>
              </a:spcAft>
              <a:buClrTx/>
              <a:buSzTx/>
            </a:pPr>
            <a:fld id="{275B9C72-3485-48FF-AE1D-FB71FC7FF0C6}" type="slidenum">
              <a:rPr lang="de-DE" b="1">
                <a:ea typeface="ヒラギノ角ゴ Pro W3" pitchFamily="96" charset="-128"/>
              </a:rPr>
              <a:pPr algn="r" defTabSz="955731" eaLnBrk="0" hangingPunct="0">
                <a:lnSpc>
                  <a:spcPct val="100000"/>
                </a:lnSpc>
                <a:spcAft>
                  <a:spcPct val="0"/>
                </a:spcAft>
                <a:buClrTx/>
                <a:buSzTx/>
              </a:pPr>
              <a:t>‹#›</a:t>
            </a:fld>
            <a:endParaRPr lang="de-DE" b="1">
              <a:ea typeface="ヒラギノ角ゴ Pro W3" pitchFamily="96" charset="-128"/>
            </a:endParaRPr>
          </a:p>
        </p:txBody>
      </p:sp>
      <p:sp>
        <p:nvSpPr>
          <p:cNvPr id="39942" name="Line 18"/>
          <p:cNvSpPr>
            <a:spLocks noChangeShapeType="1"/>
          </p:cNvSpPr>
          <p:nvPr/>
        </p:nvSpPr>
        <p:spPr bwMode="auto">
          <a:xfrm>
            <a:off x="0" y="76986"/>
            <a:ext cx="6797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88221" tIns="44111" rIns="88221" bIns="44111"/>
          <a:lstStyle/>
          <a:p>
            <a:endParaRPr lang="en-US"/>
          </a:p>
        </p:txBody>
      </p:sp>
      <p:sp>
        <p:nvSpPr>
          <p:cNvPr id="39943" name="AutoShape 19"/>
          <p:cNvSpPr>
            <a:spLocks noChangeAspect="1" noChangeArrowheads="1"/>
          </p:cNvSpPr>
          <p:nvPr/>
        </p:nvSpPr>
        <p:spPr bwMode="auto">
          <a:xfrm>
            <a:off x="-24321" y="109322"/>
            <a:ext cx="139845" cy="173989"/>
          </a:xfrm>
          <a:prstGeom prst="homePlate">
            <a:avLst>
              <a:gd name="adj" fmla="val 100000"/>
            </a:avLst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8221" tIns="44111" rIns="88221" bIns="44111" anchor="ctr"/>
          <a:lstStyle/>
          <a:p>
            <a:endParaRPr lang="en-US"/>
          </a:p>
        </p:txBody>
      </p:sp>
      <p:sp>
        <p:nvSpPr>
          <p:cNvPr id="39944" name="Line 20"/>
          <p:cNvSpPr>
            <a:spLocks noChangeShapeType="1"/>
          </p:cNvSpPr>
          <p:nvPr/>
        </p:nvSpPr>
        <p:spPr bwMode="auto">
          <a:xfrm>
            <a:off x="0" y="548144"/>
            <a:ext cx="6797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88221" tIns="44111" rIns="88221" bIns="44111"/>
          <a:lstStyle/>
          <a:p>
            <a:endParaRPr lang="en-US"/>
          </a:p>
        </p:txBody>
      </p:sp>
      <p:sp>
        <p:nvSpPr>
          <p:cNvPr id="39945" name="Line 21"/>
          <p:cNvSpPr>
            <a:spLocks noChangeShapeType="1"/>
          </p:cNvSpPr>
          <p:nvPr/>
        </p:nvSpPr>
        <p:spPr bwMode="auto">
          <a:xfrm>
            <a:off x="0" y="9654105"/>
            <a:ext cx="6797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88221" tIns="44111" rIns="88221" bIns="44111"/>
          <a:lstStyle/>
          <a:p>
            <a:endParaRPr lang="en-US"/>
          </a:p>
        </p:txBody>
      </p:sp>
      <p:pic>
        <p:nvPicPr>
          <p:cNvPr id="39946" name="Picture 22" descr="logo_standard_d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752"/>
          <a:stretch>
            <a:fillRect/>
          </a:stretch>
        </p:blipFill>
        <p:spPr bwMode="auto">
          <a:xfrm>
            <a:off x="5812681" y="123179"/>
            <a:ext cx="984994" cy="37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07106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64" y="4714653"/>
            <a:ext cx="5438748" cy="44667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62" tIns="47781" rIns="95562" bIns="4778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4119" name="Rectangle 23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544179" y="76987"/>
            <a:ext cx="4853528" cy="261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55731" ea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 sz="1600" b="1">
                <a:solidFill>
                  <a:schemeClr val="tx1"/>
                </a:solidFill>
                <a:latin typeface="Arial" pitchFamily="34" charset="0"/>
                <a:ea typeface="ヒラギノ角ゴ Pro W3" pitchFamily="96" charset="-128"/>
              </a:defRPr>
            </a:lvl1pPr>
          </a:lstStyle>
          <a:p>
            <a:pPr>
              <a:defRPr/>
            </a:pPr>
            <a:r>
              <a:rPr lang="de-DE"/>
              <a:t>OFFIS</a:t>
            </a:r>
          </a:p>
        </p:txBody>
      </p:sp>
      <p:sp>
        <p:nvSpPr>
          <p:cNvPr id="4120" name="Rectangle 24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44179" y="338741"/>
            <a:ext cx="4853528" cy="22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defTabSz="955731" ea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 sz="1100">
                <a:latin typeface="Arial" pitchFamily="34" charset="0"/>
                <a:ea typeface="ヒラギノ角ゴ Pro W3" pitchFamily="96" charset="-128"/>
              </a:defRPr>
            </a:lvl1pPr>
          </a:lstStyle>
          <a:p>
            <a:pPr>
              <a:defRPr/>
            </a:pPr>
            <a:fld id="{C7E54160-B116-4109-AA92-3860CE6317DD}" type="datetime1">
              <a:rPr lang="de-DE" smtClean="0"/>
              <a:t>21.06.2026</a:t>
            </a:fld>
            <a:endParaRPr lang="de-DE"/>
          </a:p>
        </p:txBody>
      </p:sp>
      <p:sp>
        <p:nvSpPr>
          <p:cNvPr id="37894" name="Rectangle 25"/>
          <p:cNvSpPr>
            <a:spLocks noChangeArrowheads="1"/>
          </p:cNvSpPr>
          <p:nvPr/>
        </p:nvSpPr>
        <p:spPr bwMode="auto">
          <a:xfrm>
            <a:off x="595861" y="9684900"/>
            <a:ext cx="5657636" cy="16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/>
          <a:p>
            <a:pPr algn="ctr" defTabSz="955731" ea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endParaRPr lang="en-US" sz="1100">
              <a:ea typeface="ヒラギノ角ゴ Pro W3" pitchFamily="96" charset="-128"/>
            </a:endParaRPr>
          </a:p>
        </p:txBody>
      </p:sp>
      <p:sp>
        <p:nvSpPr>
          <p:cNvPr id="37895" name="Rectangle 26"/>
          <p:cNvSpPr>
            <a:spLocks noChangeArrowheads="1"/>
          </p:cNvSpPr>
          <p:nvPr/>
        </p:nvSpPr>
        <p:spPr bwMode="auto">
          <a:xfrm>
            <a:off x="0" y="76987"/>
            <a:ext cx="472737" cy="261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/>
          <a:p>
            <a:pPr algn="r" defTabSz="955731" eaLnBrk="0" hangingPunct="0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fld id="{22320607-5AC0-4A66-9987-88F714D17AA0}" type="slidenum">
              <a:rPr lang="de-DE" sz="1600" b="1">
                <a:ea typeface="ヒラギノ角ゴ Pro W3" pitchFamily="96" charset="-128"/>
              </a:rPr>
              <a:pPr algn="r" defTabSz="955731" eaLnBrk="0" hangingPunct="0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t>‹#›</a:t>
            </a:fld>
            <a:endParaRPr lang="de-DE" sz="1600" b="1">
              <a:ea typeface="ヒラギノ角ゴ Pro W3" pitchFamily="96" charset="-128"/>
            </a:endParaRPr>
          </a:p>
        </p:txBody>
      </p:sp>
      <p:sp>
        <p:nvSpPr>
          <p:cNvPr id="37896" name="Line 27"/>
          <p:cNvSpPr>
            <a:spLocks noChangeShapeType="1"/>
          </p:cNvSpPr>
          <p:nvPr/>
        </p:nvSpPr>
        <p:spPr bwMode="auto">
          <a:xfrm>
            <a:off x="0" y="76986"/>
            <a:ext cx="6797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88221" tIns="44111" rIns="88221" bIns="44111"/>
          <a:lstStyle/>
          <a:p>
            <a:endParaRPr lang="en-US"/>
          </a:p>
        </p:txBody>
      </p:sp>
      <p:sp>
        <p:nvSpPr>
          <p:cNvPr id="37897" name="AutoShape 28"/>
          <p:cNvSpPr>
            <a:spLocks noChangeAspect="1" noChangeArrowheads="1"/>
          </p:cNvSpPr>
          <p:nvPr/>
        </p:nvSpPr>
        <p:spPr bwMode="auto">
          <a:xfrm>
            <a:off x="-24321" y="109322"/>
            <a:ext cx="139845" cy="173989"/>
          </a:xfrm>
          <a:prstGeom prst="homePlate">
            <a:avLst>
              <a:gd name="adj" fmla="val 100000"/>
            </a:avLst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8221" tIns="44111" rIns="88221" bIns="44111" anchor="ctr"/>
          <a:lstStyle/>
          <a:p>
            <a:endParaRPr lang="en-US"/>
          </a:p>
        </p:txBody>
      </p:sp>
      <p:sp>
        <p:nvSpPr>
          <p:cNvPr id="37898" name="Line 29"/>
          <p:cNvSpPr>
            <a:spLocks noChangeShapeType="1"/>
          </p:cNvSpPr>
          <p:nvPr/>
        </p:nvSpPr>
        <p:spPr bwMode="auto">
          <a:xfrm>
            <a:off x="0" y="548144"/>
            <a:ext cx="6797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88221" tIns="44111" rIns="88221" bIns="44111"/>
          <a:lstStyle/>
          <a:p>
            <a:endParaRPr lang="en-US"/>
          </a:p>
        </p:txBody>
      </p:sp>
      <p:sp>
        <p:nvSpPr>
          <p:cNvPr id="37899" name="Line 30"/>
          <p:cNvSpPr>
            <a:spLocks noChangeShapeType="1"/>
          </p:cNvSpPr>
          <p:nvPr/>
        </p:nvSpPr>
        <p:spPr bwMode="auto">
          <a:xfrm>
            <a:off x="0" y="9654105"/>
            <a:ext cx="6797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88221" tIns="44111" rIns="88221" bIns="44111"/>
          <a:lstStyle/>
          <a:p>
            <a:endParaRPr lang="en-US"/>
          </a:p>
        </p:txBody>
      </p:sp>
      <p:pic>
        <p:nvPicPr>
          <p:cNvPr id="37900" name="Picture 31" descr="logo_standard_d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752"/>
          <a:stretch>
            <a:fillRect/>
          </a:stretch>
        </p:blipFill>
        <p:spPr bwMode="auto">
          <a:xfrm>
            <a:off x="5812681" y="123179"/>
            <a:ext cx="984994" cy="37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9277198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ine 16"/>
          <p:cNvSpPr>
            <a:spLocks noChangeShapeType="1"/>
          </p:cNvSpPr>
          <p:nvPr userDrawn="1"/>
        </p:nvSpPr>
        <p:spPr bwMode="auto">
          <a:xfrm>
            <a:off x="0" y="944563"/>
            <a:ext cx="9144000" cy="0"/>
          </a:xfrm>
          <a:prstGeom prst="line">
            <a:avLst/>
          </a:prstGeom>
          <a:noFill/>
          <a:ln w="19050">
            <a:solidFill>
              <a:srgbClr val="5DAE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Überschrift einfügen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39750" y="1052736"/>
            <a:ext cx="5326063" cy="269875"/>
          </a:xfrm>
        </p:spPr>
        <p:txBody>
          <a:bodyPr wrap="none"/>
          <a:lstStyle>
            <a:lvl1pPr marL="0" indent="0">
              <a:buFont typeface="Arial" pitchFamily="34" charset="0"/>
              <a:buNone/>
              <a:defRPr sz="20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de-DE" dirty="0"/>
              <a:t>Subheadline</a:t>
            </a:r>
          </a:p>
        </p:txBody>
      </p:sp>
      <p:pic>
        <p:nvPicPr>
          <p:cNvPr id="14" name="Grafik 4" descr="8-7-6-5-4-3-4-5-6-7-8_S.gif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412" y="116633"/>
            <a:ext cx="828092" cy="636596"/>
          </a:xfrm>
          <a:prstGeom prst="rect">
            <a:avLst/>
          </a:prstGeom>
        </p:spPr>
      </p:pic>
      <p:sp>
        <p:nvSpPr>
          <p:cNvPr id="10" name="Rectangle 12"/>
          <p:cNvSpPr>
            <a:spLocks noChangeArrowheads="1"/>
          </p:cNvSpPr>
          <p:nvPr userDrawn="1"/>
        </p:nvSpPr>
        <p:spPr bwMode="auto">
          <a:xfrm>
            <a:off x="0" y="6597650"/>
            <a:ext cx="4572000" cy="260350"/>
          </a:xfrm>
          <a:prstGeom prst="rect">
            <a:avLst/>
          </a:prstGeom>
          <a:solidFill>
            <a:srgbClr val="2190FF"/>
          </a:solidFill>
          <a:ln>
            <a:noFill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endParaRPr lang="de-DE" sz="1800" noProof="0">
              <a:solidFill>
                <a:schemeClr val="tx2"/>
              </a:solidFill>
            </a:endParaRPr>
          </a:p>
        </p:txBody>
      </p:sp>
      <p:sp>
        <p:nvSpPr>
          <p:cNvPr id="11" name="Rectangle 12"/>
          <p:cNvSpPr>
            <a:spLocks noChangeArrowheads="1"/>
          </p:cNvSpPr>
          <p:nvPr userDrawn="1"/>
        </p:nvSpPr>
        <p:spPr bwMode="auto">
          <a:xfrm>
            <a:off x="4572000" y="6597650"/>
            <a:ext cx="4572000" cy="2603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endParaRPr lang="de-DE" sz="1800" noProof="0">
              <a:solidFill>
                <a:schemeClr val="tx2"/>
              </a:solidFill>
            </a:endParaRP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 bwMode="ltGray">
          <a:xfrm>
            <a:off x="182563" y="6656388"/>
            <a:ext cx="4389437" cy="144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 sz="1000" dirty="0">
                <a:solidFill>
                  <a:srgbClr val="FFFFFF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de-DE" dirty="0"/>
              <a:t>Prof. Dr. Achim Rettberg – University </a:t>
            </a:r>
            <a:r>
              <a:rPr lang="de-DE" dirty="0" err="1"/>
              <a:t>of</a:t>
            </a:r>
            <a:r>
              <a:rPr lang="de-DE" dirty="0"/>
              <a:t> Applied </a:t>
            </a:r>
            <a:r>
              <a:rPr lang="de-DE" dirty="0" err="1"/>
              <a:t>Sciences</a:t>
            </a:r>
            <a:r>
              <a:rPr lang="de-DE" dirty="0"/>
              <a:t> Hamm-Lippstadt</a:t>
            </a:r>
          </a:p>
        </p:txBody>
      </p:sp>
      <p:sp>
        <p:nvSpPr>
          <p:cNvPr id="12" name="Rectangle 15"/>
          <p:cNvSpPr>
            <a:spLocks noGrp="1" noChangeArrowheads="1"/>
          </p:cNvSpPr>
          <p:nvPr>
            <p:ph type="dt" sz="half" idx="16"/>
          </p:nvPr>
        </p:nvSpPr>
        <p:spPr>
          <a:xfrm>
            <a:off x="7812360" y="6656388"/>
            <a:ext cx="755650" cy="144462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076C5B-2EA2-7A47-B86E-99AAD28441A6}" type="datetime1">
              <a:rPr lang="de-DE" smtClean="0"/>
              <a:t>21.06.2026</a:t>
            </a:fld>
            <a:endParaRPr lang="de-DE" dirty="0"/>
          </a:p>
        </p:txBody>
      </p:sp>
      <p:sp>
        <p:nvSpPr>
          <p:cNvPr id="13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76456" y="6655197"/>
            <a:ext cx="468052" cy="1581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 sz="1000" b="0">
                <a:solidFill>
                  <a:schemeClr val="bg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de-DE" dirty="0"/>
              <a:t>&lt; </a:t>
            </a:r>
            <a:fld id="{1A61C92B-C297-4AC9-B551-2D8A658A0122}" type="slidenum">
              <a:rPr lang="de-DE" smtClean="0"/>
              <a:pPr>
                <a:defRPr/>
              </a:pPr>
              <a:t>‹#›</a:t>
            </a:fld>
            <a:r>
              <a:rPr lang="de-DE" dirty="0"/>
              <a:t> &gt;</a:t>
            </a:r>
          </a:p>
        </p:txBody>
      </p:sp>
    </p:spTree>
    <p:extLst>
      <p:ext uri="{BB962C8B-B14F-4D97-AF65-F5344CB8AC3E}">
        <p14:creationId xmlns:p14="http://schemas.microsoft.com/office/powerpoint/2010/main" val="496094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bg2"/>
              </a:buCl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de-DE" noProof="0" dirty="0"/>
              <a:t>Textmasterformate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ubTitle" idx="13"/>
          </p:nvPr>
        </p:nvSpPr>
        <p:spPr>
          <a:xfrm>
            <a:off x="467544" y="512676"/>
            <a:ext cx="5326063" cy="269875"/>
          </a:xfrm>
        </p:spPr>
        <p:txBody>
          <a:bodyPr wrap="none"/>
          <a:lstStyle>
            <a:lvl1pPr marL="0" indent="0">
              <a:buFont typeface="Arial" pitchFamily="34" charset="0"/>
              <a:buNone/>
              <a:defRPr sz="20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de-DE" noProof="0" dirty="0"/>
              <a:t>Subheadline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Prof. Dr. Achim Rettberg – University </a:t>
            </a:r>
            <a:r>
              <a:rPr lang="de-DE" dirty="0" err="1"/>
              <a:t>of</a:t>
            </a:r>
            <a:r>
              <a:rPr lang="de-DE" dirty="0"/>
              <a:t> Applied </a:t>
            </a:r>
            <a:r>
              <a:rPr lang="de-DE" dirty="0" err="1"/>
              <a:t>Sciences</a:t>
            </a:r>
            <a:r>
              <a:rPr lang="de-DE" dirty="0"/>
              <a:t> Hamm-Lippstadt</a:t>
            </a:r>
          </a:p>
        </p:txBody>
      </p:sp>
      <p:sp>
        <p:nvSpPr>
          <p:cNvPr id="8" name="Rectangle 15"/>
          <p:cNvSpPr>
            <a:spLocks noGrp="1" noChangeArrowheads="1"/>
          </p:cNvSpPr>
          <p:nvPr>
            <p:ph type="dt" sz="half" idx="16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A6CC5D-69A9-BA4B-AC99-9F8254D0981E}" type="datetime1">
              <a:rPr lang="de-DE" smtClean="0"/>
              <a:t>21.06.2026</a:t>
            </a:fld>
            <a:endParaRPr lang="de-DE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76456" y="6655197"/>
            <a:ext cx="468052" cy="1581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 sz="1000" b="0">
                <a:solidFill>
                  <a:schemeClr val="bg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de-DE" dirty="0"/>
              <a:t>&lt; </a:t>
            </a:r>
            <a:fld id="{1A61C92B-C297-4AC9-B551-2D8A658A0122}" type="slidenum">
              <a:rPr lang="de-DE" smtClean="0"/>
              <a:pPr>
                <a:defRPr/>
              </a:pPr>
              <a:t>‹#›</a:t>
            </a:fld>
            <a:r>
              <a:rPr lang="de-DE" dirty="0"/>
              <a:t> &gt;</a:t>
            </a:r>
          </a:p>
        </p:txBody>
      </p:sp>
    </p:spTree>
    <p:extLst>
      <p:ext uri="{BB962C8B-B14F-4D97-AF65-F5344CB8AC3E}">
        <p14:creationId xmlns:p14="http://schemas.microsoft.com/office/powerpoint/2010/main" val="3502570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539750" y="944724"/>
            <a:ext cx="3830638" cy="5440201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22788" y="944724"/>
            <a:ext cx="3830637" cy="5440201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13"/>
          </p:nvPr>
        </p:nvSpPr>
        <p:spPr>
          <a:xfrm>
            <a:off x="467544" y="512676"/>
            <a:ext cx="5326063" cy="269875"/>
          </a:xfrm>
        </p:spPr>
        <p:txBody>
          <a:bodyPr wrap="none"/>
          <a:lstStyle>
            <a:lvl1pPr marL="0" indent="0">
              <a:buFont typeface="Arial" pitchFamily="34" charset="0"/>
              <a:buNone/>
              <a:defRPr sz="20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de-DE" dirty="0"/>
              <a:t>Subheadline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Prof. Dr. Achim Rettberg – University </a:t>
            </a:r>
            <a:r>
              <a:rPr lang="de-DE" dirty="0" err="1"/>
              <a:t>of</a:t>
            </a:r>
            <a:r>
              <a:rPr lang="de-DE" dirty="0"/>
              <a:t> Applied </a:t>
            </a:r>
            <a:r>
              <a:rPr lang="de-DE" dirty="0" err="1"/>
              <a:t>Sciences</a:t>
            </a:r>
            <a:r>
              <a:rPr lang="de-DE" dirty="0"/>
              <a:t> Hamm-Lippstadt</a:t>
            </a:r>
          </a:p>
        </p:txBody>
      </p:sp>
      <p:sp>
        <p:nvSpPr>
          <p:cNvPr id="9" name="Rectangle 15"/>
          <p:cNvSpPr>
            <a:spLocks noGrp="1" noChangeArrowheads="1"/>
          </p:cNvSpPr>
          <p:nvPr>
            <p:ph type="dt" sz="half" idx="16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1EAA1D-2E15-9046-9A40-4947ABB751C4}" type="datetime1">
              <a:rPr lang="de-DE" smtClean="0"/>
              <a:t>21.06.2026</a:t>
            </a:fld>
            <a:endParaRPr lang="de-DE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76456" y="6655197"/>
            <a:ext cx="468052" cy="1581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 sz="1000" b="0">
                <a:solidFill>
                  <a:schemeClr val="bg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de-DE" dirty="0"/>
              <a:t>&lt; </a:t>
            </a:r>
            <a:fld id="{1A61C92B-C297-4AC9-B551-2D8A658A0122}" type="slidenum">
              <a:rPr lang="de-DE" smtClean="0"/>
              <a:pPr>
                <a:defRPr/>
              </a:pPr>
              <a:t>‹#›</a:t>
            </a:fld>
            <a:r>
              <a:rPr lang="de-DE" dirty="0"/>
              <a:t> &gt;</a:t>
            </a:r>
          </a:p>
        </p:txBody>
      </p:sp>
    </p:spTree>
    <p:extLst>
      <p:ext uri="{BB962C8B-B14F-4D97-AF65-F5344CB8AC3E}">
        <p14:creationId xmlns:p14="http://schemas.microsoft.com/office/powerpoint/2010/main" val="3380273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39750" y="116632"/>
            <a:ext cx="5326063" cy="360362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abellenplatzhalter 2"/>
          <p:cNvSpPr>
            <a:spLocks noGrp="1"/>
          </p:cNvSpPr>
          <p:nvPr>
            <p:ph type="tbl" idx="1"/>
          </p:nvPr>
        </p:nvSpPr>
        <p:spPr>
          <a:xfrm>
            <a:off x="539750" y="908720"/>
            <a:ext cx="7813675" cy="5476205"/>
          </a:xfrm>
        </p:spPr>
        <p:txBody>
          <a:bodyPr/>
          <a:lstStyle/>
          <a:p>
            <a:pPr lvl="0"/>
            <a:endParaRPr lang="de-DE" noProof="0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ubTitle" idx="13"/>
          </p:nvPr>
        </p:nvSpPr>
        <p:spPr>
          <a:xfrm>
            <a:off x="539750" y="469057"/>
            <a:ext cx="5326063" cy="269875"/>
          </a:xfrm>
        </p:spPr>
        <p:txBody>
          <a:bodyPr wrap="none"/>
          <a:lstStyle>
            <a:lvl1pPr marL="0" indent="0">
              <a:buFont typeface="Arial" pitchFamily="34" charset="0"/>
              <a:buNone/>
              <a:defRPr sz="20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de-DE" dirty="0"/>
              <a:t>Subheadline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Prof. Dr. Achim Rettberg – University </a:t>
            </a:r>
            <a:r>
              <a:rPr lang="de-DE" dirty="0" err="1"/>
              <a:t>of</a:t>
            </a:r>
            <a:r>
              <a:rPr lang="de-DE" dirty="0"/>
              <a:t> Applied </a:t>
            </a:r>
            <a:r>
              <a:rPr lang="de-DE" dirty="0" err="1"/>
              <a:t>Sciences</a:t>
            </a:r>
            <a:r>
              <a:rPr lang="de-DE" dirty="0"/>
              <a:t> Hamm-Lippstadt</a:t>
            </a:r>
          </a:p>
        </p:txBody>
      </p:sp>
      <p:sp>
        <p:nvSpPr>
          <p:cNvPr id="8" name="Rectangle 15"/>
          <p:cNvSpPr>
            <a:spLocks noGrp="1" noChangeArrowheads="1"/>
          </p:cNvSpPr>
          <p:nvPr>
            <p:ph type="dt" sz="half" idx="16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B5056C-E1FC-1F4E-A35C-F2D495D58E09}" type="datetime1">
              <a:rPr lang="de-DE" smtClean="0"/>
              <a:t>21.06.2026</a:t>
            </a:fld>
            <a:endParaRPr lang="de-DE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76456" y="6655197"/>
            <a:ext cx="468052" cy="1581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 sz="1000" b="0">
                <a:solidFill>
                  <a:schemeClr val="bg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de-DE" dirty="0"/>
              <a:t>&lt; </a:t>
            </a:r>
            <a:fld id="{1A61C92B-C297-4AC9-B551-2D8A658A0122}" type="slidenum">
              <a:rPr lang="de-DE" smtClean="0"/>
              <a:pPr>
                <a:defRPr/>
              </a:pPr>
              <a:t>‹#›</a:t>
            </a:fld>
            <a:r>
              <a:rPr lang="de-DE" dirty="0"/>
              <a:t> &gt;</a:t>
            </a:r>
          </a:p>
        </p:txBody>
      </p:sp>
    </p:spTree>
    <p:extLst>
      <p:ext uri="{BB962C8B-B14F-4D97-AF65-F5344CB8AC3E}">
        <p14:creationId xmlns:p14="http://schemas.microsoft.com/office/powerpoint/2010/main" val="2835627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539750" y="116632"/>
            <a:ext cx="5326063" cy="360362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39750" y="469057"/>
            <a:ext cx="5326063" cy="269875"/>
          </a:xfrm>
        </p:spPr>
        <p:txBody>
          <a:bodyPr wrap="none"/>
          <a:lstStyle>
            <a:lvl1pPr marL="0" indent="0">
              <a:buFont typeface="Arial" pitchFamily="34" charset="0"/>
              <a:buNone/>
              <a:defRPr sz="20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de-DE" dirty="0"/>
              <a:t>Subheadline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Prof. Dr. Achim Rettberg – University </a:t>
            </a:r>
            <a:r>
              <a:rPr lang="de-DE" dirty="0" err="1"/>
              <a:t>of</a:t>
            </a:r>
            <a:r>
              <a:rPr lang="de-DE" dirty="0"/>
              <a:t> Applied </a:t>
            </a:r>
            <a:r>
              <a:rPr lang="de-DE" dirty="0" err="1"/>
              <a:t>Sciences</a:t>
            </a:r>
            <a:r>
              <a:rPr lang="de-DE" dirty="0"/>
              <a:t> Hamm-Lippstadt</a:t>
            </a:r>
          </a:p>
        </p:txBody>
      </p:sp>
      <p:sp>
        <p:nvSpPr>
          <p:cNvPr id="8" name="Rectangle 15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DC69DE-E521-EC4C-AFF3-2A6651E3F1AC}" type="datetime1">
              <a:rPr lang="de-DE" smtClean="0"/>
              <a:t>21.06.2026</a:t>
            </a:fld>
            <a:endParaRPr lang="de-DE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76456" y="6655197"/>
            <a:ext cx="468052" cy="1581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 sz="1000" b="0">
                <a:solidFill>
                  <a:schemeClr val="bg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de-DE" dirty="0"/>
              <a:t>&lt; </a:t>
            </a:r>
            <a:fld id="{1A61C92B-C297-4AC9-B551-2D8A658A0122}" type="slidenum">
              <a:rPr lang="de-DE" smtClean="0"/>
              <a:pPr>
                <a:defRPr/>
              </a:pPr>
              <a:t>‹#›</a:t>
            </a:fld>
            <a:r>
              <a:rPr lang="de-DE" dirty="0"/>
              <a:t> &gt;</a:t>
            </a:r>
          </a:p>
        </p:txBody>
      </p:sp>
    </p:spTree>
    <p:extLst>
      <p:ext uri="{BB962C8B-B14F-4D97-AF65-F5344CB8AC3E}">
        <p14:creationId xmlns:p14="http://schemas.microsoft.com/office/powerpoint/2010/main" val="2774310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5478" y="2026738"/>
            <a:ext cx="7233045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1" y="3840480"/>
            <a:ext cx="6400799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182563" y="6656388"/>
            <a:ext cx="4389437" cy="144462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Prof. Dr. Achim Rettberg – University </a:t>
            </a:r>
            <a:r>
              <a:rPr lang="de-DE" dirty="0" err="1"/>
              <a:t>of</a:t>
            </a:r>
            <a:r>
              <a:rPr lang="de-DE" dirty="0"/>
              <a:t> Applied </a:t>
            </a:r>
            <a:r>
              <a:rPr lang="de-DE" dirty="0" err="1"/>
              <a:t>Sciences</a:t>
            </a:r>
            <a:r>
              <a:rPr lang="de-DE" dirty="0"/>
              <a:t> Hamm-Lippstadt</a:t>
            </a:r>
          </a:p>
        </p:txBody>
      </p:sp>
      <p:sp>
        <p:nvSpPr>
          <p:cNvPr id="8" name="Rectangle 15"/>
          <p:cNvSpPr>
            <a:spLocks noGrp="1" noChangeArrowheads="1"/>
          </p:cNvSpPr>
          <p:nvPr>
            <p:ph type="dt" sz="half" idx="12"/>
          </p:nvPr>
        </p:nvSpPr>
        <p:spPr>
          <a:xfrm>
            <a:off x="7812360" y="6656388"/>
            <a:ext cx="755650" cy="144462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C5E747-687F-9C49-A498-1184E7908D39}" type="datetime1">
              <a:rPr lang="de-DE" smtClean="0"/>
              <a:t>21.06.2026</a:t>
            </a:fld>
            <a:endParaRPr lang="de-DE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3"/>
          </p:nvPr>
        </p:nvSpPr>
        <p:spPr bwMode="auto">
          <a:xfrm>
            <a:off x="8676456" y="6655197"/>
            <a:ext cx="468052" cy="1581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 sz="1000" b="0">
                <a:solidFill>
                  <a:schemeClr val="bg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de-DE" dirty="0"/>
              <a:t>&lt; </a:t>
            </a:r>
            <a:fld id="{1A61C92B-C297-4AC9-B551-2D8A658A0122}" type="slidenum">
              <a:rPr lang="de-DE" smtClean="0"/>
              <a:pPr>
                <a:defRPr/>
              </a:pPr>
              <a:t>‹#›</a:t>
            </a:fld>
            <a:r>
              <a:rPr lang="de-DE" dirty="0"/>
              <a:t> &gt;</a:t>
            </a:r>
          </a:p>
        </p:txBody>
      </p:sp>
    </p:spTree>
    <p:extLst>
      <p:ext uri="{BB962C8B-B14F-4D97-AF65-F5344CB8AC3E}">
        <p14:creationId xmlns:p14="http://schemas.microsoft.com/office/powerpoint/2010/main" val="1912718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gif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2"/>
          <p:cNvSpPr>
            <a:spLocks noChangeArrowheads="1"/>
          </p:cNvSpPr>
          <p:nvPr userDrawn="1"/>
        </p:nvSpPr>
        <p:spPr bwMode="auto">
          <a:xfrm>
            <a:off x="0" y="6597650"/>
            <a:ext cx="4572000" cy="260350"/>
          </a:xfrm>
          <a:prstGeom prst="rect">
            <a:avLst/>
          </a:prstGeom>
          <a:solidFill>
            <a:srgbClr val="2190FF"/>
          </a:solidFill>
          <a:ln>
            <a:noFill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endParaRPr lang="de-DE" sz="1800" noProof="0">
              <a:solidFill>
                <a:schemeClr val="tx2"/>
              </a:solidFill>
            </a:endParaRPr>
          </a:p>
        </p:txBody>
      </p:sp>
      <p:sp>
        <p:nvSpPr>
          <p:cNvPr id="1026" name="Rectangle 12"/>
          <p:cNvSpPr>
            <a:spLocks noChangeArrowheads="1"/>
          </p:cNvSpPr>
          <p:nvPr userDrawn="1"/>
        </p:nvSpPr>
        <p:spPr bwMode="auto">
          <a:xfrm>
            <a:off x="4572000" y="6597650"/>
            <a:ext cx="4572000" cy="2603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/>
          <a:p>
            <a:pPr algn="ctr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endParaRPr lang="de-DE" sz="1800" noProof="0">
              <a:solidFill>
                <a:schemeClr val="tx2"/>
              </a:solidFill>
            </a:endParaRP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7544" y="125413"/>
            <a:ext cx="5326063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dirty="0"/>
              <a:t>Titelmasterformat durch Klicken bearbeiten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908050"/>
            <a:ext cx="8099425" cy="547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dirty="0"/>
              <a:t>Textmasterformate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ltGray">
          <a:xfrm>
            <a:off x="182563" y="6656388"/>
            <a:ext cx="4389437" cy="144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 sz="1000" dirty="0">
                <a:solidFill>
                  <a:srgbClr val="FFFFFF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de-DE" dirty="0"/>
              <a:t>Prof. Dr. Achim Rettberg – University </a:t>
            </a:r>
            <a:r>
              <a:rPr lang="de-DE" dirty="0" err="1"/>
              <a:t>of</a:t>
            </a:r>
            <a:r>
              <a:rPr lang="de-DE" dirty="0"/>
              <a:t> Applied </a:t>
            </a:r>
            <a:r>
              <a:rPr lang="de-DE" dirty="0" err="1"/>
              <a:t>Sciences</a:t>
            </a:r>
            <a:r>
              <a:rPr lang="de-DE" dirty="0"/>
              <a:t> Hamm-Lippstadt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48464" y="6655197"/>
            <a:ext cx="396044" cy="1581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 sz="1000" b="0">
                <a:solidFill>
                  <a:schemeClr val="bg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de-DE" dirty="0"/>
              <a:t>&lt;</a:t>
            </a:r>
            <a:fld id="{1A61C92B-C297-4AC9-B551-2D8A658A0122}" type="slidenum">
              <a:rPr lang="de-DE" smtClean="0"/>
              <a:pPr>
                <a:defRPr/>
              </a:pPr>
              <a:t>‹#›</a:t>
            </a:fld>
            <a:r>
              <a:rPr lang="de-DE" dirty="0"/>
              <a:t>&gt;</a:t>
            </a:r>
          </a:p>
        </p:txBody>
      </p:sp>
      <p:sp>
        <p:nvSpPr>
          <p:cNvPr id="1033" name="Line 10"/>
          <p:cNvSpPr>
            <a:spLocks noChangeShapeType="1"/>
          </p:cNvSpPr>
          <p:nvPr userDrawn="1"/>
        </p:nvSpPr>
        <p:spPr bwMode="auto">
          <a:xfrm>
            <a:off x="0" y="796925"/>
            <a:ext cx="9144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de-DE" noProof="0"/>
          </a:p>
        </p:txBody>
      </p:sp>
      <p:sp>
        <p:nvSpPr>
          <p:cNvPr id="1039" name="Rectangle 15"/>
          <p:cNvSpPr>
            <a:spLocks noGrp="1" noChangeArrowheads="1"/>
          </p:cNvSpPr>
          <p:nvPr>
            <p:ph type="dt" sz="half" idx="2"/>
          </p:nvPr>
        </p:nvSpPr>
        <p:spPr bwMode="ltGray">
          <a:xfrm>
            <a:off x="7812360" y="6656388"/>
            <a:ext cx="755650" cy="144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 sz="1000">
                <a:solidFill>
                  <a:schemeClr val="bg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0B2D14DF-C64B-D248-822C-9E9F774E507A}" type="datetime1">
              <a:rPr lang="de-DE" noProof="0" smtClean="0"/>
              <a:t>21.06.2026</a:t>
            </a:fld>
            <a:endParaRPr lang="de-DE" noProof="0" dirty="0"/>
          </a:p>
        </p:txBody>
      </p:sp>
      <p:sp>
        <p:nvSpPr>
          <p:cNvPr id="1036" name="AutoShape 16"/>
          <p:cNvSpPr>
            <a:spLocks noChangeArrowheads="1"/>
          </p:cNvSpPr>
          <p:nvPr userDrawn="1"/>
        </p:nvSpPr>
        <p:spPr bwMode="auto">
          <a:xfrm>
            <a:off x="0" y="250825"/>
            <a:ext cx="107950" cy="107950"/>
          </a:xfrm>
          <a:prstGeom prst="homePlate">
            <a:avLst>
              <a:gd name="adj" fmla="val 100000"/>
            </a:avLst>
          </a:prstGeom>
          <a:solidFill>
            <a:schemeClr val="bg2"/>
          </a:solidFill>
          <a:ln>
            <a:noFill/>
          </a:ln>
        </p:spPr>
        <p:txBody>
          <a:bodyPr wrap="none" lIns="0" tIns="0" rIns="0" bIns="0" anchor="ctr"/>
          <a:lstStyle/>
          <a:p>
            <a:endParaRPr lang="de-DE" noProof="0"/>
          </a:p>
        </p:txBody>
      </p:sp>
      <p:pic>
        <p:nvPicPr>
          <p:cNvPr id="13" name="Grafik 4" descr="8-7-6-5-4-3-4-5-6-7-8_S.gif"/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412" y="116633"/>
            <a:ext cx="828092" cy="63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472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2" r:id="rId2"/>
    <p:sldLayoutId id="2147483903" r:id="rId3"/>
    <p:sldLayoutId id="2147483905" r:id="rId4"/>
    <p:sldLayoutId id="2147483906" r:id="rId5"/>
    <p:sldLayoutId id="2147483908" r:id="rId6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pitchFamily="34" charset="0"/>
        </a:defRPr>
      </a:lvl9pPr>
    </p:titleStyle>
    <p:bodyStyle>
      <a:lvl1pPr marL="266700" indent="-266700" algn="l" rtl="0" eaLnBrk="0" fontAlgn="base" hangingPunct="0">
        <a:lnSpc>
          <a:spcPct val="90000"/>
        </a:lnSpc>
        <a:spcBef>
          <a:spcPct val="0"/>
        </a:spcBef>
        <a:spcAft>
          <a:spcPts val="600"/>
        </a:spcAft>
        <a:buClr>
          <a:schemeClr val="bg2"/>
        </a:buClr>
        <a:buSzPct val="85000"/>
        <a:buFont typeface="Wingdings 3" pitchFamily="18" charset="2"/>
        <a:buChar char=""/>
        <a:defRPr sz="24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719138" indent="-268288" algn="l" rtl="0" eaLnBrk="0" fontAlgn="base" hangingPunct="0">
        <a:lnSpc>
          <a:spcPct val="90000"/>
        </a:lnSpc>
        <a:spcBef>
          <a:spcPct val="0"/>
        </a:spcBef>
        <a:spcAft>
          <a:spcPts val="600"/>
        </a:spcAft>
        <a:buClr>
          <a:schemeClr val="bg2"/>
        </a:buClr>
        <a:buSzPct val="85000"/>
        <a:buFont typeface="Wingdings 3" pitchFamily="18" charset="2"/>
        <a:buChar char=""/>
        <a:defRPr sz="20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1165225" indent="-271463" algn="l" rtl="0" eaLnBrk="0" fontAlgn="base" hangingPunct="0">
        <a:lnSpc>
          <a:spcPct val="90000"/>
        </a:lnSpc>
        <a:spcBef>
          <a:spcPct val="0"/>
        </a:spcBef>
        <a:spcAft>
          <a:spcPts val="600"/>
        </a:spcAft>
        <a:buClr>
          <a:schemeClr val="bg2"/>
        </a:buClr>
        <a:buSzPct val="85000"/>
        <a:buFont typeface="Wingdings 3" pitchFamily="18" charset="2"/>
        <a:buChar char=""/>
        <a:defRPr sz="18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612900" indent="-265113" algn="l" rtl="0" eaLnBrk="0" fontAlgn="base" hangingPunct="0">
        <a:lnSpc>
          <a:spcPct val="90000"/>
        </a:lnSpc>
        <a:spcBef>
          <a:spcPct val="0"/>
        </a:spcBef>
        <a:spcAft>
          <a:spcPts val="600"/>
        </a:spcAft>
        <a:buClr>
          <a:schemeClr val="bg2"/>
        </a:buClr>
        <a:buSzPct val="85000"/>
        <a:buFont typeface="Wingdings 3" pitchFamily="18" charset="2"/>
        <a:buChar char=""/>
        <a:defRPr sz="16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2060575" indent="-271463" algn="l" rtl="0" eaLnBrk="0" fontAlgn="base" hangingPunct="0">
        <a:lnSpc>
          <a:spcPct val="90000"/>
        </a:lnSpc>
        <a:spcBef>
          <a:spcPct val="0"/>
        </a:spcBef>
        <a:spcAft>
          <a:spcPts val="600"/>
        </a:spcAft>
        <a:buClr>
          <a:schemeClr val="bg2"/>
        </a:buClr>
        <a:buSzPct val="85000"/>
        <a:buFont typeface="Wingdings 3" pitchFamily="18" charset="2"/>
        <a:buChar char=""/>
        <a:defRPr sz="16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1806575" indent="-271463" algn="l" rtl="0" fontAlgn="base">
        <a:lnSpc>
          <a:spcPct val="90000"/>
        </a:lnSpc>
        <a:spcBef>
          <a:spcPct val="0"/>
        </a:spcBef>
        <a:spcAft>
          <a:spcPts val="600"/>
        </a:spcAft>
        <a:buClr>
          <a:srgbClr val="B9B9B9"/>
        </a:buClr>
        <a:buSzPct val="75000"/>
        <a:buFont typeface="Arial" pitchFamily="34" charset="0"/>
        <a:buChar char="►"/>
        <a:defRPr sz="1600">
          <a:solidFill>
            <a:schemeClr val="tx1"/>
          </a:solidFill>
          <a:latin typeface="+mn-lt"/>
        </a:defRPr>
      </a:lvl6pPr>
      <a:lvl7pPr marL="2263775" indent="-271463" algn="l" rtl="0" fontAlgn="base">
        <a:lnSpc>
          <a:spcPct val="90000"/>
        </a:lnSpc>
        <a:spcBef>
          <a:spcPct val="0"/>
        </a:spcBef>
        <a:spcAft>
          <a:spcPts val="600"/>
        </a:spcAft>
        <a:buClr>
          <a:srgbClr val="B9B9B9"/>
        </a:buClr>
        <a:buSzPct val="75000"/>
        <a:buFont typeface="Arial" pitchFamily="34" charset="0"/>
        <a:buChar char="►"/>
        <a:defRPr sz="1600">
          <a:solidFill>
            <a:schemeClr val="tx1"/>
          </a:solidFill>
          <a:latin typeface="+mn-lt"/>
        </a:defRPr>
      </a:lvl7pPr>
      <a:lvl8pPr marL="2720975" indent="-271463" algn="l" rtl="0" fontAlgn="base">
        <a:lnSpc>
          <a:spcPct val="90000"/>
        </a:lnSpc>
        <a:spcBef>
          <a:spcPct val="0"/>
        </a:spcBef>
        <a:spcAft>
          <a:spcPts val="600"/>
        </a:spcAft>
        <a:buClr>
          <a:srgbClr val="B9B9B9"/>
        </a:buClr>
        <a:buSzPct val="75000"/>
        <a:buFont typeface="Arial" pitchFamily="34" charset="0"/>
        <a:buChar char="►"/>
        <a:defRPr sz="1600">
          <a:solidFill>
            <a:schemeClr val="tx1"/>
          </a:solidFill>
          <a:latin typeface="+mn-lt"/>
        </a:defRPr>
      </a:lvl8pPr>
      <a:lvl9pPr marL="3178175" indent="-271463" algn="l" rtl="0" fontAlgn="base">
        <a:lnSpc>
          <a:spcPct val="90000"/>
        </a:lnSpc>
        <a:spcBef>
          <a:spcPct val="0"/>
        </a:spcBef>
        <a:spcAft>
          <a:spcPts val="600"/>
        </a:spcAft>
        <a:buClr>
          <a:srgbClr val="B9B9B9"/>
        </a:buClr>
        <a:buSzPct val="75000"/>
        <a:buFont typeface="Arial" pitchFamily="34" charset="0"/>
        <a:buChar char="►"/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3.png"/><Relationship Id="rId7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34D097-2924-CEC1-73BB-8E3BF10827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9533" y="2204864"/>
            <a:ext cx="7324934" cy="984885"/>
          </a:xfrm>
        </p:spPr>
        <p:txBody>
          <a:bodyPr/>
          <a:lstStyle/>
          <a:p>
            <a:r>
              <a:rPr lang="en-US" sz="3200" dirty="0"/>
              <a:t>The Dynamic Sporadic Server Algorithm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FA9FE19-29C8-EC15-67F0-749786579BBC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r>
              <a:rPr lang="en-US" dirty="0"/>
              <a:t>By Oleg Kelner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CF7CF1-C1F6-3272-2C76-40FDEA8B6A4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Oleg Kelner – University </a:t>
            </a:r>
            <a:r>
              <a:rPr lang="de-DE" dirty="0" err="1"/>
              <a:t>of</a:t>
            </a:r>
            <a:r>
              <a:rPr lang="de-DE" dirty="0"/>
              <a:t> Applied Sciences Hamm-Lippstadt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6580BC1-1C8B-9BB1-0180-1C2AB84C123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D1C5E747-687F-9C49-A498-1184E7908D39}" type="datetime1">
              <a:rPr lang="de-DE" smtClean="0"/>
              <a:t>21.06.2026</a:t>
            </a:fld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0B7D74-49BE-DB11-056A-B67F12142D2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&lt; </a:t>
            </a:r>
            <a:fld id="{1A61C92B-C297-4AC9-B551-2D8A658A0122}" type="slidenum">
              <a:rPr lang="de-DE" smtClean="0"/>
              <a:pPr>
                <a:defRPr/>
              </a:pPr>
              <a:t>1</a:t>
            </a:fld>
            <a:r>
              <a:rPr lang="de-DE"/>
              <a:t> &gt;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12482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C0D5E76-9209-577E-662A-2E178FF9249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Oleg Kelner – University </a:t>
            </a:r>
            <a:r>
              <a:rPr lang="de-DE" dirty="0" err="1"/>
              <a:t>of</a:t>
            </a:r>
            <a:r>
              <a:rPr lang="de-DE" dirty="0"/>
              <a:t> Applied Sciences Hamm-Lippstadt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6228B52-5945-3E7D-BCAF-BF0445C88DA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D1C5E747-687F-9C49-A498-1184E7908D39}" type="datetime1">
              <a:rPr lang="de-DE" smtClean="0"/>
              <a:t>21.06.2026</a:t>
            </a:fld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1CE94C0-56AA-4F63-A526-AC51A569F0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&lt; </a:t>
            </a:r>
            <a:fld id="{1A61C92B-C297-4AC9-B551-2D8A658A0122}" type="slidenum">
              <a:rPr lang="de-DE" smtClean="0"/>
              <a:pPr>
                <a:defRPr/>
              </a:pPr>
              <a:t>2</a:t>
            </a:fld>
            <a:r>
              <a:rPr lang="de-DE"/>
              <a:t> &gt;</a:t>
            </a:r>
            <a:endParaRPr lang="de-DE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BB7DC91F-5A21-1847-65F1-76A6C5229E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536" y="188640"/>
            <a:ext cx="7324934" cy="492443"/>
          </a:xfrm>
        </p:spPr>
        <p:txBody>
          <a:bodyPr/>
          <a:lstStyle/>
          <a:p>
            <a:r>
              <a:rPr lang="en-US" sz="3200" dirty="0"/>
              <a:t>UPPAAL model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4F83CC1-EBCC-561C-95E1-097772681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988" y="952575"/>
            <a:ext cx="4572000" cy="2376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125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6D7ED-9648-92E7-D31A-6B414BD8E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24AFB3F-1442-861D-735C-AB14CF84C3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Oleg Kelner – University </a:t>
            </a:r>
            <a:r>
              <a:rPr lang="de-DE" dirty="0" err="1"/>
              <a:t>of</a:t>
            </a:r>
            <a:r>
              <a:rPr lang="de-DE" dirty="0"/>
              <a:t> Applied Sciences Hamm-Lippstadt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AC054B-7AE3-91CF-9E9F-6B6064EAF34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D1C5E747-687F-9C49-A498-1184E7908D39}" type="datetime1">
              <a:rPr lang="de-DE" smtClean="0"/>
              <a:t>21.06.2026</a:t>
            </a:fld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D7F136-F29C-3E4D-BD54-42A15D7AA30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&lt; </a:t>
            </a:r>
            <a:fld id="{1A61C92B-C297-4AC9-B551-2D8A658A0122}" type="slidenum">
              <a:rPr lang="de-DE" smtClean="0"/>
              <a:pPr>
                <a:defRPr/>
              </a:pPr>
              <a:t>3</a:t>
            </a:fld>
            <a:r>
              <a:rPr lang="de-DE"/>
              <a:t> &gt;</a:t>
            </a:r>
            <a:endParaRPr lang="de-DE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7CC69C23-1CA8-9079-0483-F0861C293A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536" y="188640"/>
            <a:ext cx="7324934" cy="492443"/>
          </a:xfrm>
        </p:spPr>
        <p:txBody>
          <a:bodyPr/>
          <a:lstStyle/>
          <a:p>
            <a:r>
              <a:rPr lang="en-US" sz="3200" dirty="0"/>
              <a:t>Implementation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5D0FA63-BD62-6CC1-A360-0F37CEF583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995" y="926978"/>
            <a:ext cx="6795115" cy="271804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8DE2513-7B8A-9F6F-EF13-1B260F60B0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890" y="3784257"/>
            <a:ext cx="6552220" cy="262088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12D799F-9922-0B54-D1C3-340A34541AF3}"/>
                  </a:ext>
                </a:extLst>
              </p:cNvPr>
              <p:cNvSpPr txBox="1"/>
              <p:nvPr/>
            </p:nvSpPr>
            <p:spPr>
              <a:xfrm>
                <a:off x="8015542" y="4857456"/>
                <a:ext cx="903324" cy="4744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𝑚𝑠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𝑚𝑠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12D799F-9922-0B54-D1C3-340A34541A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5542" y="4857456"/>
                <a:ext cx="903324" cy="474489"/>
              </a:xfrm>
              <a:prstGeom prst="rect">
                <a:avLst/>
              </a:prstGeom>
              <a:blipFill>
                <a:blip r:embed="rId4"/>
                <a:stretch>
                  <a:fillRect l="-4730" r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7078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D711A-EC1E-4D14-6CC8-F181430A6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153A1E2-619A-6725-4EA7-3953E9628DF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Oleg Kelner – University </a:t>
            </a:r>
            <a:r>
              <a:rPr lang="de-DE" dirty="0" err="1"/>
              <a:t>of</a:t>
            </a:r>
            <a:r>
              <a:rPr lang="de-DE" dirty="0"/>
              <a:t> Applied Sciences Hamm-Lippstadt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E07262B-1E22-29E8-70DA-B295EBD8664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D1C5E747-687F-9C49-A498-1184E7908D39}" type="datetime1">
              <a:rPr lang="de-DE" smtClean="0"/>
              <a:t>21.06.2026</a:t>
            </a:fld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8FDEFE-8218-D86B-ED79-84A5537FA6E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&lt; </a:t>
            </a:r>
            <a:fld id="{1A61C92B-C297-4AC9-B551-2D8A658A0122}" type="slidenum">
              <a:rPr lang="de-DE" smtClean="0"/>
              <a:pPr>
                <a:defRPr/>
              </a:pPr>
              <a:t>4</a:t>
            </a:fld>
            <a:r>
              <a:rPr lang="de-DE"/>
              <a:t> &gt;</a:t>
            </a:r>
            <a:endParaRPr lang="de-DE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59DEB1C1-B531-44EC-90A0-9F2682123F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536" y="188640"/>
            <a:ext cx="7324934" cy="492443"/>
          </a:xfrm>
        </p:spPr>
        <p:txBody>
          <a:bodyPr/>
          <a:lstStyle/>
          <a:p>
            <a:r>
              <a:rPr lang="en-US" sz="3200" dirty="0"/>
              <a:t>Implementation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C20E9E3-6D47-8C34-2EAB-C2482F1E0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890" y="3784257"/>
            <a:ext cx="6552220" cy="262088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F57179-2DCD-ED96-3FBF-7F39B9A59283}"/>
                  </a:ext>
                </a:extLst>
              </p:cNvPr>
              <p:cNvSpPr txBox="1"/>
              <p:nvPr/>
            </p:nvSpPr>
            <p:spPr>
              <a:xfrm>
                <a:off x="7962414" y="4491972"/>
                <a:ext cx="941348" cy="12054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𝑚𝑠</m:t>
                      </m:r>
                    </m:oMath>
                  </m:oMathPara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𝑚𝑠</m:t>
                      </m:r>
                    </m:oMath>
                  </m:oMathPara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F57179-2DCD-ED96-3FBF-7F39B9A592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2414" y="4491972"/>
                <a:ext cx="941348" cy="1205458"/>
              </a:xfrm>
              <a:prstGeom prst="rect">
                <a:avLst/>
              </a:prstGeom>
              <a:blipFill>
                <a:blip r:embed="rId3"/>
                <a:stretch>
                  <a:fillRect l="-1935" r="-645" b="-65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D50C094-D3EF-59DD-EB42-2F680EC70E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894" y="1047848"/>
            <a:ext cx="6552216" cy="262088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93817A3-CA3A-2F0D-950E-308EA053508A}"/>
                  </a:ext>
                </a:extLst>
              </p:cNvPr>
              <p:cNvSpPr txBox="1"/>
              <p:nvPr/>
            </p:nvSpPr>
            <p:spPr>
              <a:xfrm>
                <a:off x="7870813" y="1818209"/>
                <a:ext cx="1289327" cy="12054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𝑚𝑠</m:t>
                      </m:r>
                    </m:oMath>
                  </m:oMathPara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𝑚𝑠</m:t>
                      </m:r>
                    </m:oMath>
                  </m:oMathPara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93817A3-CA3A-2F0D-950E-308EA0535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0813" y="1818209"/>
                <a:ext cx="1289327" cy="1205458"/>
              </a:xfrm>
              <a:prstGeom prst="rect">
                <a:avLst/>
              </a:prstGeom>
              <a:blipFill>
                <a:blip r:embed="rId5"/>
                <a:stretch>
                  <a:fillRect b="-65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3505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09B63-E9D3-339B-2475-AD6A0A0AC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AB5D9D4-5D25-1DD5-7909-DB8D4C20471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Oleg Kelner – University </a:t>
            </a:r>
            <a:r>
              <a:rPr lang="de-DE" dirty="0" err="1"/>
              <a:t>of</a:t>
            </a:r>
            <a:r>
              <a:rPr lang="de-DE" dirty="0"/>
              <a:t> Applied Sciences Hamm-Lippstadt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3EFF270-D0DB-DD8F-28CA-7C35BECC7D4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D1C5E747-687F-9C49-A498-1184E7908D39}" type="datetime1">
              <a:rPr lang="de-DE" smtClean="0"/>
              <a:t>21.06.2026</a:t>
            </a:fld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6C50CD-537B-9867-0829-A808C74022B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&lt; </a:t>
            </a:r>
            <a:fld id="{1A61C92B-C297-4AC9-B551-2D8A658A0122}" type="slidenum">
              <a:rPr lang="de-DE" smtClean="0"/>
              <a:pPr>
                <a:defRPr/>
              </a:pPr>
              <a:t>5</a:t>
            </a:fld>
            <a:r>
              <a:rPr lang="de-DE"/>
              <a:t> &gt;</a:t>
            </a:r>
            <a:endParaRPr lang="de-DE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AC84ED15-8B28-0E9F-C636-A2F1B98FA3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536" y="188640"/>
            <a:ext cx="7324934" cy="492443"/>
          </a:xfrm>
        </p:spPr>
        <p:txBody>
          <a:bodyPr/>
          <a:lstStyle/>
          <a:p>
            <a:r>
              <a:rPr lang="en-US" sz="3200" dirty="0"/>
              <a:t>Implementation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42453C0-1C63-55C6-1368-1010164C03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6712"/>
            <a:ext cx="4572000" cy="27432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B857FBA-7125-4AAE-ADEA-1EF10DAE6F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836712"/>
            <a:ext cx="4572000" cy="27432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AB9B395-4E5A-1F89-EEB1-06E2EE97D9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79520"/>
            <a:ext cx="4572000" cy="27432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B99F86C-7D02-6D49-6BCE-EFA2469630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740" y="3579520"/>
            <a:ext cx="4572000" cy="2743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99661C2-351F-FFE4-43C0-4007ABFA17CB}"/>
                  </a:ext>
                </a:extLst>
              </p:cNvPr>
              <p:cNvSpPr txBox="1"/>
              <p:nvPr/>
            </p:nvSpPr>
            <p:spPr>
              <a:xfrm>
                <a:off x="3059832" y="1586615"/>
                <a:ext cx="1117678" cy="12054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𝑚𝑠</m:t>
                      </m:r>
                    </m:oMath>
                  </m:oMathPara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𝑚𝑠</m:t>
                      </m:r>
                    </m:oMath>
                  </m:oMathPara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99661C2-351F-FFE4-43C0-4007ABFA17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1586615"/>
                <a:ext cx="1117678" cy="1205458"/>
              </a:xfrm>
              <a:prstGeom prst="rect">
                <a:avLst/>
              </a:prstGeom>
              <a:blipFill>
                <a:blip r:embed="rId6"/>
                <a:stretch>
                  <a:fillRect b="-65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06FF81D-B882-2FAC-6C6E-5B5926834692}"/>
                  </a:ext>
                </a:extLst>
              </p:cNvPr>
              <p:cNvSpPr txBox="1"/>
              <p:nvPr/>
            </p:nvSpPr>
            <p:spPr>
              <a:xfrm>
                <a:off x="7720470" y="1605583"/>
                <a:ext cx="1117678" cy="12054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𝑚𝑠</m:t>
                      </m:r>
                    </m:oMath>
                  </m:oMathPara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𝑚𝑠</m:t>
                      </m:r>
                    </m:oMath>
                  </m:oMathPara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06FF81D-B882-2FAC-6C6E-5B59268346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0470" y="1605583"/>
                <a:ext cx="1117678" cy="1205458"/>
              </a:xfrm>
              <a:prstGeom prst="rect">
                <a:avLst/>
              </a:prstGeom>
              <a:blipFill>
                <a:blip r:embed="rId7"/>
                <a:stretch>
                  <a:fillRect b="-65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FD0A0AC-3210-C36F-B729-11E6DE76CC0B}"/>
                  </a:ext>
                </a:extLst>
              </p:cNvPr>
              <p:cNvSpPr txBox="1"/>
              <p:nvPr/>
            </p:nvSpPr>
            <p:spPr>
              <a:xfrm>
                <a:off x="3059832" y="4292600"/>
                <a:ext cx="1148648" cy="12054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𝑚𝑠</m:t>
                      </m:r>
                    </m:oMath>
                  </m:oMathPara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𝑚𝑠</m:t>
                      </m:r>
                    </m:oMath>
                  </m:oMathPara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11.54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FD0A0AC-3210-C36F-B729-11E6DE76C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4292600"/>
                <a:ext cx="1148648" cy="1205458"/>
              </a:xfrm>
              <a:prstGeom prst="rect">
                <a:avLst/>
              </a:prstGeom>
              <a:blipFill>
                <a:blip r:embed="rId8"/>
                <a:stretch>
                  <a:fillRect b="-65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82BEC1C-C3F8-B721-3D5F-56A9BB82E4AA}"/>
                  </a:ext>
                </a:extLst>
              </p:cNvPr>
              <p:cNvSpPr txBox="1"/>
              <p:nvPr/>
            </p:nvSpPr>
            <p:spPr>
              <a:xfrm>
                <a:off x="7723918" y="4292600"/>
                <a:ext cx="1046377" cy="12054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𝑚𝑠</m:t>
                      </m:r>
                    </m:oMath>
                  </m:oMathPara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𝑚𝑠</m:t>
                      </m:r>
                    </m:oMath>
                  </m:oMathPara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10.71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82BEC1C-C3F8-B721-3D5F-56A9BB82E4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3918" y="4292600"/>
                <a:ext cx="1046377" cy="1205458"/>
              </a:xfrm>
              <a:prstGeom prst="rect">
                <a:avLst/>
              </a:prstGeom>
              <a:blipFill>
                <a:blip r:embed="rId9"/>
                <a:stretch>
                  <a:fillRect l="-2907" r="-2326" b="-65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3297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B987A-3F07-C1EC-FAFB-BB3759218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3074646-6D33-D608-0E08-BE97C5B35E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Oleg Kelner – University </a:t>
            </a:r>
            <a:r>
              <a:rPr lang="de-DE" dirty="0" err="1"/>
              <a:t>of</a:t>
            </a:r>
            <a:r>
              <a:rPr lang="de-DE" dirty="0"/>
              <a:t> Applied Sciences Hamm-Lippstadt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0475037-2149-1F0D-0CB2-F1FAA4A5039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D1C5E747-687F-9C49-A498-1184E7908D39}" type="datetime1">
              <a:rPr lang="de-DE" smtClean="0"/>
              <a:t>21.06.2026</a:t>
            </a:fld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226DD6B-1562-79BB-3284-5862AE0B74A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&lt; </a:t>
            </a:r>
            <a:fld id="{1A61C92B-C297-4AC9-B551-2D8A658A0122}" type="slidenum">
              <a:rPr lang="de-DE" smtClean="0"/>
              <a:pPr>
                <a:defRPr/>
              </a:pPr>
              <a:t>6</a:t>
            </a:fld>
            <a:r>
              <a:rPr lang="de-DE"/>
              <a:t> &gt;</a:t>
            </a:r>
            <a:endParaRPr lang="de-DE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CE8B5DCC-1489-2D0D-8674-75B130DB92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536" y="188640"/>
            <a:ext cx="7324934" cy="492443"/>
          </a:xfrm>
        </p:spPr>
        <p:txBody>
          <a:bodyPr/>
          <a:lstStyle/>
          <a:p>
            <a:r>
              <a:rPr lang="en-US" sz="3200" dirty="0"/>
              <a:t>Implementation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B930C43-F4B4-A05D-0C98-35C9CB131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6712"/>
            <a:ext cx="4572000" cy="27432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A770027-BB63-449A-6EC6-368ABD541B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740" y="836712"/>
            <a:ext cx="4572000" cy="2743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92C6C7D-9D1B-3CF8-03FF-9974ACF773DC}"/>
                  </a:ext>
                </a:extLst>
              </p:cNvPr>
              <p:cNvSpPr txBox="1"/>
              <p:nvPr/>
            </p:nvSpPr>
            <p:spPr>
              <a:xfrm>
                <a:off x="3059832" y="1549792"/>
                <a:ext cx="1148648" cy="12054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𝑚𝑠</m:t>
                      </m:r>
                    </m:oMath>
                  </m:oMathPara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𝑚𝑠</m:t>
                      </m:r>
                    </m:oMath>
                  </m:oMathPara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11.54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92C6C7D-9D1B-3CF8-03FF-9974ACF773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1549792"/>
                <a:ext cx="1148648" cy="1205458"/>
              </a:xfrm>
              <a:prstGeom prst="rect">
                <a:avLst/>
              </a:prstGeom>
              <a:blipFill>
                <a:blip r:embed="rId4"/>
                <a:stretch>
                  <a:fillRect b="-65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9605ABD-4F30-FF28-6651-B1813099A86B}"/>
                  </a:ext>
                </a:extLst>
              </p:cNvPr>
              <p:cNvSpPr txBox="1"/>
              <p:nvPr/>
            </p:nvSpPr>
            <p:spPr>
              <a:xfrm>
                <a:off x="7723918" y="1549792"/>
                <a:ext cx="1046377" cy="12054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𝑚𝑠</m:t>
                      </m:r>
                    </m:oMath>
                  </m:oMathPara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=7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𝑚𝑠</m:t>
                      </m:r>
                    </m:oMath>
                  </m:oMathPara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10.71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9605ABD-4F30-FF28-6651-B1813099A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3918" y="1549792"/>
                <a:ext cx="1046377" cy="1205458"/>
              </a:xfrm>
              <a:prstGeom prst="rect">
                <a:avLst/>
              </a:prstGeom>
              <a:blipFill>
                <a:blip r:embed="rId5"/>
                <a:stretch>
                  <a:fillRect l="-2907" r="-2326" b="-65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AE0FD6B-342F-6FBD-F8B5-D82F6CEF2D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1385" y="3579912"/>
            <a:ext cx="4567261" cy="274035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4D48BD3-A05A-EE61-170A-C35863B68F53}"/>
                  </a:ext>
                </a:extLst>
              </p:cNvPr>
              <p:cNvSpPr txBox="1"/>
              <p:nvPr/>
            </p:nvSpPr>
            <p:spPr>
              <a:xfrm>
                <a:off x="7560193" y="4221088"/>
                <a:ext cx="1017523" cy="12054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𝑚𝑠</m:t>
                      </m:r>
                    </m:oMath>
                  </m:oMathPara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𝑚𝑠</m:t>
                      </m:r>
                    </m:oMath>
                  </m:oMathPara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4D48BD3-A05A-EE61-170A-C35863B68F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0193" y="4221088"/>
                <a:ext cx="1017523" cy="1205458"/>
              </a:xfrm>
              <a:prstGeom prst="rect">
                <a:avLst/>
              </a:prstGeom>
              <a:blipFill>
                <a:blip r:embed="rId7"/>
                <a:stretch>
                  <a:fillRect b="-65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E84111D-5937-7450-21C3-A8F8772D8C87}"/>
                  </a:ext>
                </a:extLst>
              </p:cNvPr>
              <p:cNvSpPr txBox="1"/>
              <p:nvPr/>
            </p:nvSpPr>
            <p:spPr>
              <a:xfrm>
                <a:off x="175531" y="3926953"/>
                <a:ext cx="4101405" cy="2098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/>
                  <a:t>Reduction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1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1800" dirty="0"/>
                  <a:t> allow higher response time even when utilization becomes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endParaRPr lang="en-US" sz="1800" b="0" dirty="0"/>
              </a:p>
              <a:p>
                <a:pPr marL="285750" indent="-28575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/>
                  <a:t>However,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1800" dirty="0"/>
                  <a:t> becomes smaller than task execution time, it introduces additional delay due to budget exhaustion. 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E84111D-5937-7450-21C3-A8F8772D8C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531" y="3926953"/>
                <a:ext cx="4101405" cy="2098331"/>
              </a:xfrm>
              <a:prstGeom prst="rect">
                <a:avLst/>
              </a:prstGeom>
              <a:blipFill>
                <a:blip r:embed="rId8"/>
                <a:stretch>
                  <a:fillRect l="-149" t="-1453" r="-2229" b="-37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1255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51CD7-3AC1-1C8A-2971-20B64305E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1EE46A5-2617-2A2A-CBB7-8C0A44BF97F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Oleg Kelner – University </a:t>
            </a:r>
            <a:r>
              <a:rPr lang="de-DE" dirty="0" err="1"/>
              <a:t>of</a:t>
            </a:r>
            <a:r>
              <a:rPr lang="de-DE" dirty="0"/>
              <a:t> Applied Sciences Hamm-Lippstadt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351F8EA-599A-FA77-6B9A-A35A1D44085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D1C5E747-687F-9C49-A498-1184E7908D39}" type="datetime1">
              <a:rPr lang="de-DE" smtClean="0"/>
              <a:t>21.06.2026</a:t>
            </a:fld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8601E2-1C50-D0E6-0E0E-9FA36F04777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&lt; </a:t>
            </a:r>
            <a:fld id="{1A61C92B-C297-4AC9-B551-2D8A658A0122}" type="slidenum">
              <a:rPr lang="de-DE" smtClean="0"/>
              <a:pPr>
                <a:defRPr/>
              </a:pPr>
              <a:t>7</a:t>
            </a:fld>
            <a:r>
              <a:rPr lang="de-DE"/>
              <a:t> &gt;</a:t>
            </a:r>
            <a:endParaRPr lang="de-DE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C8813ED2-CCD4-0524-BE46-7405080921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536" y="188640"/>
            <a:ext cx="7324934" cy="492443"/>
          </a:xfrm>
        </p:spPr>
        <p:txBody>
          <a:bodyPr/>
          <a:lstStyle/>
          <a:p>
            <a:r>
              <a:rPr lang="en-US" sz="3200" dirty="0"/>
              <a:t>Implementation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87D3450-1E77-AAE7-E576-C74BBEB2E6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6712"/>
            <a:ext cx="4572000" cy="2743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634AEC8-57BF-6391-2BFC-513D76E6E0B9}"/>
                  </a:ext>
                </a:extLst>
              </p:cNvPr>
              <p:cNvSpPr txBox="1"/>
              <p:nvPr/>
            </p:nvSpPr>
            <p:spPr>
              <a:xfrm>
                <a:off x="182563" y="3695147"/>
                <a:ext cx="1073627" cy="4360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𝑚𝑠</m:t>
                      </m:r>
                    </m:oMath>
                  </m:oMathPara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𝑚𝑠</m:t>
                      </m:r>
                    </m:oMath>
                  </m:oMathPara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:endParaRPr lang="en-US" b="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634AEC8-57BF-6391-2BFC-513D76E6E0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563" y="3695147"/>
                <a:ext cx="1073627" cy="436081"/>
              </a:xfrm>
              <a:prstGeom prst="rect">
                <a:avLst/>
              </a:prstGeom>
              <a:blipFill>
                <a:blip r:embed="rId3"/>
                <a:stretch>
                  <a:fillRect l="-1136"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C947468-2A8E-CA14-2B96-5BB53F34613D}"/>
                  </a:ext>
                </a:extLst>
              </p:cNvPr>
              <p:cNvSpPr txBox="1"/>
              <p:nvPr/>
            </p:nvSpPr>
            <p:spPr>
              <a:xfrm>
                <a:off x="3053255" y="2080072"/>
                <a:ext cx="991232" cy="2564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=0.025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C947468-2A8E-CA14-2B96-5BB53F3461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3255" y="2080072"/>
                <a:ext cx="991232" cy="256480"/>
              </a:xfrm>
              <a:prstGeom prst="rect">
                <a:avLst/>
              </a:prstGeom>
              <a:blipFill>
                <a:blip r:embed="rId4"/>
                <a:stretch>
                  <a:fillRect l="-4321" t="-2381" r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8B28695-829E-5853-C278-5E5E32CA1E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20" y="836712"/>
            <a:ext cx="4572000" cy="27432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6C3323E-90FF-8B3D-E5AF-11C7F6D92D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920" y="3579912"/>
            <a:ext cx="4572000" cy="2743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C92F6C5-3944-2A93-9BB1-E364E7E99178}"/>
                  </a:ext>
                </a:extLst>
              </p:cNvPr>
              <p:cNvSpPr txBox="1"/>
              <p:nvPr/>
            </p:nvSpPr>
            <p:spPr>
              <a:xfrm>
                <a:off x="7919250" y="2080072"/>
                <a:ext cx="877420" cy="2564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=0.05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C92F6C5-3944-2A93-9BB1-E364E7E99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9250" y="2080072"/>
                <a:ext cx="877420" cy="256480"/>
              </a:xfrm>
              <a:prstGeom prst="rect">
                <a:avLst/>
              </a:prstGeom>
              <a:blipFill>
                <a:blip r:embed="rId7"/>
                <a:stretch>
                  <a:fillRect l="-4167" t="-2381" r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1BAFEC0-8B12-5753-E70A-6F0E9675E252}"/>
                  </a:ext>
                </a:extLst>
              </p:cNvPr>
              <p:cNvSpPr txBox="1"/>
              <p:nvPr/>
            </p:nvSpPr>
            <p:spPr>
              <a:xfrm>
                <a:off x="7919250" y="4861670"/>
                <a:ext cx="763607" cy="2564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=0.1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1BAFEC0-8B12-5753-E70A-6F0E9675E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9250" y="4861670"/>
                <a:ext cx="763607" cy="256480"/>
              </a:xfrm>
              <a:prstGeom prst="rect">
                <a:avLst/>
              </a:prstGeom>
              <a:blipFill>
                <a:blip r:embed="rId8"/>
                <a:stretch>
                  <a:fillRect l="-4800" r="-5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9387B188-F742-A09C-D91E-344A099E4B9A}"/>
              </a:ext>
            </a:extLst>
          </p:cNvPr>
          <p:cNvSpPr txBox="1"/>
          <p:nvPr/>
        </p:nvSpPr>
        <p:spPr>
          <a:xfrm>
            <a:off x="182563" y="4581128"/>
            <a:ext cx="41014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For the increased frequency of aperiodic task generation, it is clear, that at some point the performance of DSS decreases.</a:t>
            </a:r>
          </a:p>
        </p:txBody>
      </p:sp>
    </p:spTree>
    <p:extLst>
      <p:ext uri="{BB962C8B-B14F-4D97-AF65-F5344CB8AC3E}">
        <p14:creationId xmlns:p14="http://schemas.microsoft.com/office/powerpoint/2010/main" val="22680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A3DCF-508E-B2FB-A957-8EC6446C4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BBB6C7D-732C-5C79-FDC3-C76542D232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Oleg Kelner – University </a:t>
            </a:r>
            <a:r>
              <a:rPr lang="de-DE" dirty="0" err="1"/>
              <a:t>of</a:t>
            </a:r>
            <a:r>
              <a:rPr lang="de-DE" dirty="0"/>
              <a:t> Applied Sciences Hamm-Lippstadt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AFC4770-E0FD-719C-7A8E-604F6D27294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D1C5E747-687F-9C49-A498-1184E7908D39}" type="datetime1">
              <a:rPr lang="de-DE" smtClean="0"/>
              <a:t>21.06.2026</a:t>
            </a:fld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DF7045B-7EF2-499A-F96C-5FC0857AF10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&lt; </a:t>
            </a:r>
            <a:fld id="{1A61C92B-C297-4AC9-B551-2D8A658A0122}" type="slidenum">
              <a:rPr lang="de-DE" smtClean="0"/>
              <a:pPr>
                <a:defRPr/>
              </a:pPr>
              <a:t>8</a:t>
            </a:fld>
            <a:r>
              <a:rPr lang="de-DE"/>
              <a:t> &gt;</a:t>
            </a:r>
            <a:endParaRPr lang="de-DE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DDF0EE4D-5E5D-CCB9-8E8A-809BB9A0B7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536" y="188640"/>
            <a:ext cx="7324934" cy="492443"/>
          </a:xfrm>
        </p:spPr>
        <p:txBody>
          <a:bodyPr/>
          <a:lstStyle/>
          <a:p>
            <a:r>
              <a:rPr lang="en-US" sz="3200" dirty="0"/>
              <a:t>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770422993"/>
      </p:ext>
    </p:extLst>
  </p:cSld>
  <p:clrMapOvr>
    <a:masterClrMapping/>
  </p:clrMapOvr>
</p:sld>
</file>

<file path=ppt/theme/theme1.xml><?xml version="1.0" encoding="utf-8"?>
<a:theme xmlns:a="http://schemas.openxmlformats.org/drawingml/2006/main" name="1_STANDARD">
  <a:themeElements>
    <a:clrScheme name="STANDARD 1">
      <a:dk1>
        <a:srgbClr val="000000"/>
      </a:dk1>
      <a:lt1>
        <a:srgbClr val="FFFFFF"/>
      </a:lt1>
      <a:dk2>
        <a:srgbClr val="00197D"/>
      </a:dk2>
      <a:lt2>
        <a:srgbClr val="646464"/>
      </a:lt2>
      <a:accent1>
        <a:srgbClr val="0078F0"/>
      </a:accent1>
      <a:accent2>
        <a:srgbClr val="6EAA23"/>
      </a:accent2>
      <a:accent3>
        <a:srgbClr val="FFFFFF"/>
      </a:accent3>
      <a:accent4>
        <a:srgbClr val="000000"/>
      </a:accent4>
      <a:accent5>
        <a:srgbClr val="AABEF6"/>
      </a:accent5>
      <a:accent6>
        <a:srgbClr val="639A1F"/>
      </a:accent6>
      <a:hlink>
        <a:srgbClr val="00197D"/>
      </a:hlink>
      <a:folHlink>
        <a:srgbClr val="FF8700"/>
      </a:folHlink>
    </a:clrScheme>
    <a:fontScheme name="STANDARD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88900" marR="0" indent="-88900" algn="l" defTabSz="914400" rtl="0" eaLnBrk="1" fontAlgn="base" latinLnBrk="0" hangingPunct="1">
          <a:lnSpc>
            <a:spcPts val="1700"/>
          </a:lnSpc>
          <a:spcBef>
            <a:spcPct val="0"/>
          </a:spcBef>
          <a:spcAft>
            <a:spcPts val="300"/>
          </a:spcAft>
          <a:buClr>
            <a:schemeClr val="tx2"/>
          </a:buClr>
          <a:buSzPct val="70000"/>
          <a:buFont typeface="Arial" pitchFamily="34" charset="0"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88900" marR="0" indent="-88900" algn="l" defTabSz="914400" rtl="0" eaLnBrk="1" fontAlgn="base" latinLnBrk="0" hangingPunct="1">
          <a:lnSpc>
            <a:spcPts val="1700"/>
          </a:lnSpc>
          <a:spcBef>
            <a:spcPct val="0"/>
          </a:spcBef>
          <a:spcAft>
            <a:spcPts val="300"/>
          </a:spcAft>
          <a:buClr>
            <a:schemeClr val="tx2"/>
          </a:buClr>
          <a:buSzPct val="70000"/>
          <a:buFont typeface="Arial" pitchFamily="34" charset="0"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STANDARD 1">
        <a:dk1>
          <a:srgbClr val="000000"/>
        </a:dk1>
        <a:lt1>
          <a:srgbClr val="FFFFFF"/>
        </a:lt1>
        <a:dk2>
          <a:srgbClr val="00197D"/>
        </a:dk2>
        <a:lt2>
          <a:srgbClr val="646464"/>
        </a:lt2>
        <a:accent1>
          <a:srgbClr val="0078F0"/>
        </a:accent1>
        <a:accent2>
          <a:srgbClr val="6EAA23"/>
        </a:accent2>
        <a:accent3>
          <a:srgbClr val="FFFFFF"/>
        </a:accent3>
        <a:accent4>
          <a:srgbClr val="000000"/>
        </a:accent4>
        <a:accent5>
          <a:srgbClr val="AABEF6"/>
        </a:accent5>
        <a:accent6>
          <a:srgbClr val="639A1F"/>
        </a:accent6>
        <a:hlink>
          <a:srgbClr val="00197D"/>
        </a:hlink>
        <a:folHlink>
          <a:srgbClr val="FF87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318</Words>
  <Application>Microsoft Office PowerPoint</Application>
  <PresentationFormat>Экран (4:3)</PresentationFormat>
  <Paragraphs>87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Cambria Math</vt:lpstr>
      <vt:lpstr>Wingdings 3</vt:lpstr>
      <vt:lpstr>1_STANDARD</vt:lpstr>
      <vt:lpstr>The Dynamic Sporadic Server Algorithm</vt:lpstr>
      <vt:lpstr>UPPAAL model</vt:lpstr>
      <vt:lpstr>Implementation</vt:lpstr>
      <vt:lpstr>Implementation</vt:lpstr>
      <vt:lpstr>Implementation</vt:lpstr>
      <vt:lpstr>Implementation</vt:lpstr>
      <vt:lpstr>Implementation</vt:lpstr>
      <vt:lpstr>Implementation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HSHL</dc:title>
  <dc:creator>Prof. Dr. Henkler, Stefan</dc:creator>
  <cp:lastModifiedBy>Oleg Kelner</cp:lastModifiedBy>
  <cp:revision>749</cp:revision>
  <cp:lastPrinted>2016-03-22T17:20:48Z</cp:lastPrinted>
  <dcterms:created xsi:type="dcterms:W3CDTF">2008-08-13T11:47:09Z</dcterms:created>
  <dcterms:modified xsi:type="dcterms:W3CDTF">2026-06-21T16:18:59Z</dcterms:modified>
</cp:coreProperties>
</file>