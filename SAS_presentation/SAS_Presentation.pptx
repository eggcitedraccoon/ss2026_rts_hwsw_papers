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15"/>
  </p:notesMasterIdLst>
  <p:handoutMasterIdLst>
    <p:handoutMasterId r:id="rId16"/>
  </p:handoutMasterIdLst>
  <p:sldIdLst>
    <p:sldId id="258" r:id="rId2"/>
    <p:sldId id="272" r:id="rId3"/>
    <p:sldId id="284" r:id="rId4"/>
    <p:sldId id="278" r:id="rId5"/>
    <p:sldId id="276" r:id="rId6"/>
    <p:sldId id="275" r:id="rId7"/>
    <p:sldId id="279" r:id="rId8"/>
    <p:sldId id="280" r:id="rId9"/>
    <p:sldId id="281" r:id="rId10"/>
    <p:sldId id="282" r:id="rId11"/>
    <p:sldId id="283" r:id="rId12"/>
    <p:sldId id="268" r:id="rId13"/>
    <p:sldId id="273" r:id="rId14"/>
  </p:sldIdLst>
  <p:sldSz cx="9144000" cy="6858000" type="screen4x3"/>
  <p:notesSz cx="6797675" cy="9926638"/>
  <p:defaultTextStyle>
    <a:defPPr>
      <a:defRPr lang="de-DE"/>
    </a:defPPr>
    <a:lvl1pPr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FF"/>
    <a:srgbClr val="FF6621"/>
    <a:srgbClr val="7E4200"/>
    <a:srgbClr val="001E87"/>
    <a:srgbClr val="666699"/>
    <a:srgbClr val="800000"/>
    <a:srgbClr val="99CC00"/>
    <a:srgbClr val="993300"/>
    <a:srgbClr val="0021AC"/>
    <a:srgbClr val="001C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 autoAdjust="0"/>
    <p:restoredTop sz="96340" autoAdjust="0"/>
  </p:normalViewPr>
  <p:slideViewPr>
    <p:cSldViewPr>
      <p:cViewPr varScale="1">
        <p:scale>
          <a:sx n="109" d="100"/>
          <a:sy n="109" d="100"/>
        </p:scale>
        <p:origin x="180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2730" y="-120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0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86031" name="Rectangle 1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4E0C06B7-C559-4809-80E3-2886171D3968}" type="datetime1">
              <a:rPr lang="de-DE" smtClean="0"/>
              <a:t>29.06.2026</a:t>
            </a:fld>
            <a:endParaRPr lang="de-DE"/>
          </a:p>
        </p:txBody>
      </p:sp>
      <p:sp>
        <p:nvSpPr>
          <p:cNvPr id="39940" name="Rectangle 16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9941" name="Rectangle 17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fld id="{275B9C72-3485-48FF-AE1D-FB71FC7FF0C6}" type="slidenum">
              <a:rPr lang="de-DE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</a:pPr>
              <a:t>‹#›</a:t>
            </a:fld>
            <a:endParaRPr lang="de-DE" b="1">
              <a:ea typeface="ヒラギノ角ゴ Pro W3" pitchFamily="96" charset="-128"/>
            </a:endParaRPr>
          </a:p>
        </p:txBody>
      </p:sp>
      <p:sp>
        <p:nvSpPr>
          <p:cNvPr id="39942" name="Line 18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3" name="AutoShape 19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9944" name="Line 20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5" name="Line 21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9946" name="Picture 22" descr="logo_standard_d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71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4653"/>
            <a:ext cx="5438748" cy="44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C7E54160-B116-4109-AA92-3860CE6317DD}" type="datetime1">
              <a:rPr lang="de-DE" smtClean="0"/>
              <a:t>29.06.2026</a:t>
            </a:fld>
            <a:endParaRPr lang="de-DE"/>
          </a:p>
        </p:txBody>
      </p:sp>
      <p:sp>
        <p:nvSpPr>
          <p:cNvPr id="37894" name="Rectangle 25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7895" name="Rectangle 26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fld id="{22320607-5AC0-4A66-9987-88F714D17AA0}" type="slidenum">
              <a:rPr lang="de-DE" sz="1600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t>‹#›</a:t>
            </a:fld>
            <a:endParaRPr lang="de-DE" sz="1600" b="1">
              <a:ea typeface="ヒラギノ角ゴ Pro W3" pitchFamily="96" charset="-128"/>
            </a:endParaRPr>
          </a:p>
        </p:txBody>
      </p:sp>
      <p:sp>
        <p:nvSpPr>
          <p:cNvPr id="37896" name="Line 27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7" name="AutoShape 28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7898" name="Line 29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9" name="Line 30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7900" name="Picture 31" descr="logo_standard_d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27719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16"/>
          <p:cNvSpPr>
            <a:spLocks noChangeShapeType="1"/>
          </p:cNvSpPr>
          <p:nvPr userDrawn="1"/>
        </p:nvSpPr>
        <p:spPr bwMode="auto">
          <a:xfrm>
            <a:off x="0" y="944563"/>
            <a:ext cx="9144000" cy="0"/>
          </a:xfrm>
          <a:prstGeom prst="line">
            <a:avLst/>
          </a:prstGeom>
          <a:noFill/>
          <a:ln w="19050">
            <a:solidFill>
              <a:srgbClr val="5DAE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einfügen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105273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pic>
        <p:nvPicPr>
          <p:cNvPr id="14" name="Grafik 4" descr="8-7-6-5-4-3-4-5-6-7-8_S.g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  <p:sp>
        <p:nvSpPr>
          <p:cNvPr id="10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2" name="Rectangle 15"/>
          <p:cNvSpPr>
            <a:spLocks noGrp="1" noChangeArrowheads="1"/>
          </p:cNvSpPr>
          <p:nvPr>
            <p:ph type="dt" sz="half" idx="16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6C5B-2EA2-7A47-B86E-99AAD28441A6}" type="datetime1">
              <a:rPr lang="de-DE" smtClean="0"/>
              <a:t>29.06.2026</a:t>
            </a:fld>
            <a:endParaRPr lang="de-DE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9609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noProof="0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6CC5D-69A9-BA4B-AC99-9F8254D0981E}" type="datetime1">
              <a:rPr lang="de-DE" smtClean="0"/>
              <a:t>29.06.2026</a:t>
            </a:fld>
            <a:endParaRPr lang="de-DE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50257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39750" y="944724"/>
            <a:ext cx="3830638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22788" y="944724"/>
            <a:ext cx="3830637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EAA1D-2E15-9046-9A40-4947ABB751C4}" type="datetime1">
              <a:rPr lang="de-DE" smtClean="0"/>
              <a:t>29.06.2026</a:t>
            </a:fld>
            <a:endParaRPr lang="de-DE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38027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539750" y="908720"/>
            <a:ext cx="7813675" cy="5476205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5056C-E1FC-1F4E-A35C-F2D495D58E09}" type="datetime1">
              <a:rPr lang="de-DE" smtClean="0"/>
              <a:t>29.06.2026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83562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C69DE-E521-EC4C-AFF3-2A6651E3F1AC}" type="datetime1">
              <a:rPr lang="de-DE" smtClean="0"/>
              <a:t>29.06.2026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7743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478" y="2026738"/>
            <a:ext cx="723304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1" y="3840480"/>
            <a:ext cx="6400799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2563" y="6656388"/>
            <a:ext cx="4389437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191271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6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25413"/>
            <a:ext cx="53260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08050"/>
            <a:ext cx="809942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48464" y="6655197"/>
            <a:ext cx="396044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&gt;</a:t>
            </a:r>
          </a:p>
        </p:txBody>
      </p:sp>
      <p:sp>
        <p:nvSpPr>
          <p:cNvPr id="1033" name="Line 10"/>
          <p:cNvSpPr>
            <a:spLocks noChangeShapeType="1"/>
          </p:cNvSpPr>
          <p:nvPr userDrawn="1"/>
        </p:nvSpPr>
        <p:spPr bwMode="auto">
          <a:xfrm>
            <a:off x="0" y="796925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de-DE" noProof="0"/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dt" sz="half" idx="2"/>
          </p:nvPr>
        </p:nvSpPr>
        <p:spPr bwMode="ltGray">
          <a:xfrm>
            <a:off x="7812360" y="6656388"/>
            <a:ext cx="7556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2D14DF-C64B-D248-822C-9E9F774E507A}" type="datetime1">
              <a:rPr lang="de-DE" noProof="0" smtClean="0"/>
              <a:t>29.06.2026</a:t>
            </a:fld>
            <a:endParaRPr lang="de-DE" noProof="0" dirty="0"/>
          </a:p>
        </p:txBody>
      </p:sp>
      <p:sp>
        <p:nvSpPr>
          <p:cNvPr id="1036" name="AutoShape 16"/>
          <p:cNvSpPr>
            <a:spLocks noChangeArrowheads="1"/>
          </p:cNvSpPr>
          <p:nvPr userDrawn="1"/>
        </p:nvSpPr>
        <p:spPr bwMode="auto">
          <a:xfrm>
            <a:off x="0" y="250825"/>
            <a:ext cx="107950" cy="107950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de-DE" noProof="0"/>
          </a:p>
        </p:txBody>
      </p:sp>
      <p:pic>
        <p:nvPicPr>
          <p:cNvPr id="13" name="Grafik 4" descr="8-7-6-5-4-3-4-5-6-7-8_S.gif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7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2" r:id="rId2"/>
    <p:sldLayoutId id="2147483903" r:id="rId3"/>
    <p:sldLayoutId id="2147483905" r:id="rId4"/>
    <p:sldLayoutId id="2147483906" r:id="rId5"/>
    <p:sldLayoutId id="2147483908" r:id="rId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9pPr>
    </p:titleStyle>
    <p:bodyStyle>
      <a:lvl1pPr marL="266700" indent="-266700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19138" indent="-268288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0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116522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8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612900" indent="-26511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6057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065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6pPr>
      <a:lvl7pPr marL="22637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7pPr>
      <a:lvl8pPr marL="27209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8pPr>
      <a:lvl9pPr marL="31781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4D097-2924-CEC1-73BB-8E3BF1082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572" y="2204864"/>
            <a:ext cx="7704856" cy="984885"/>
          </a:xfrm>
        </p:spPr>
        <p:txBody>
          <a:bodyPr/>
          <a:lstStyle/>
          <a:p>
            <a:r>
              <a:rPr lang="en-US" sz="3200" dirty="0"/>
              <a:t>Simulated Annealing Scheduling Algorithm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A9FE19-29C8-EC15-67F0-749786579BB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dirty="0"/>
              <a:t>By Oleg Kelner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CF7CF1-C1F6-3272-2C76-40FDEA8B6A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580BC1-1C8B-9BB1-0180-1C2AB84C123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B7D74-49BE-DB11-056A-B67F12142D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</a:t>
            </a:fld>
            <a:r>
              <a:rPr lang="de-DE"/>
              <a:t> 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248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3E24-5234-5DC8-21A2-C995B448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Black Annealed Wire: 6 Key Advantages for Construction &amp; Tying">
            <a:extLst>
              <a:ext uri="{FF2B5EF4-FFF2-40B4-BE49-F238E27FC236}">
                <a16:creationId xmlns:a16="http://schemas.microsoft.com/office/drawing/2014/main" id="{A4CFC0EC-E125-A54C-5A4B-927E099DD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942" y="3107294"/>
            <a:ext cx="5820116" cy="2705700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6544D2-7801-6CF0-A011-5CF5413C10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7187C8-6437-1CDF-59CD-4358E6CEE9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128BED-D2AF-E573-617B-0DFE3ADD8E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2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1AB2EEC-6E03-1F7F-AC2A-3BE3209FE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91DD3-837A-4B04-764F-D70D30AABE11}"/>
              </a:ext>
            </a:extLst>
          </p:cNvPr>
          <p:cNvSpPr txBox="1"/>
          <p:nvPr/>
        </p:nvSpPr>
        <p:spPr>
          <a:xfrm>
            <a:off x="1661942" y="1615783"/>
            <a:ext cx="5020926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Goal: escape local minimum, optimize cost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B4ADA-B80B-6F7A-1455-A7794D69B462}"/>
              </a:ext>
            </a:extLst>
          </p:cNvPr>
          <p:cNvSpPr txBox="1"/>
          <p:nvPr/>
        </p:nvSpPr>
        <p:spPr>
          <a:xfrm>
            <a:off x="1678801" y="2361538"/>
            <a:ext cx="580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Underlying physics principle – annealing is a heat treatment process that alters a material's microstructure to increase its ductility, reduce hardness, and relieve internal stresses.</a:t>
            </a:r>
          </a:p>
        </p:txBody>
      </p:sp>
    </p:spTree>
    <p:extLst>
      <p:ext uri="{BB962C8B-B14F-4D97-AF65-F5344CB8AC3E}">
        <p14:creationId xmlns:p14="http://schemas.microsoft.com/office/powerpoint/2010/main" val="77306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E4D2-721F-366B-C4B3-7014297F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26D227-B422-9F8D-CD19-738B304B7B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9D0F75-779D-060D-A612-8E73BF8868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91F860-F671-5790-D8DE-DF498A83D9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3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7777C61-C7C1-F24C-1FB9-58BAE404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46F536-6B98-2733-049F-CAED6273CA33}"/>
                  </a:ext>
                </a:extLst>
              </p:cNvPr>
              <p:cNvSpPr txBox="1"/>
              <p:nvPr/>
            </p:nvSpPr>
            <p:spPr>
              <a:xfrm>
                <a:off x="2147963" y="2435234"/>
                <a:ext cx="4848074" cy="1987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Cost function</a:t>
                </a:r>
                <a:r>
                  <a:rPr lang="en-US" sz="1800" i="1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𝑙𝑎𝑡𝑒𝑛𝑐𝑦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𝑎𝑟𝑒𝑎</m:t>
                    </m:r>
                  </m:oMath>
                </a14:m>
                <a:endParaRPr lang="en-US" sz="18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800" b="0" i="0" dirty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en-US" sz="1800" i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𝐶𝑜𝑜𝑙𝑖𝑛𝑔𝑅𝑎𝑡𝑒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46F536-6B98-2733-049F-CAED6273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963" y="2435234"/>
                <a:ext cx="4848074" cy="1987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7B47-C77C-705B-BD8D-CD101C0D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E83F40-A398-DCD4-5D20-3398754DB9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5F9816-493E-C6C4-198F-3F5A061AC0E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B732B-CA38-B940-0875-88D82E9E5A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4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19932E4-76EF-8839-47A9-9A45DADE0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5B6F0A-DFBB-31AA-57F5-F1FBC7402C92}"/>
                  </a:ext>
                </a:extLst>
              </p:cNvPr>
              <p:cNvSpPr txBox="1"/>
              <p:nvPr/>
            </p:nvSpPr>
            <p:spPr>
              <a:xfrm>
                <a:off x="1817743" y="1851571"/>
                <a:ext cx="5508513" cy="3634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While 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𝑇𝑚𝑖𝑛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For (number of iterations)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Generate new state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Evaluate cost function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800" dirty="0"/>
                  <a:t> – accept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 – accept with 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8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Update temperature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5B6F0A-DFBB-31AA-57F5-F1FBC7402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743" y="1851571"/>
                <a:ext cx="5508513" cy="3634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01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5A45-C81F-C149-C933-7A47D945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D9A55E-4D31-E19B-6EC9-77D444A0F2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AC15CC-6306-EE47-E651-4A6671C0CC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C910C1-3F5F-A92F-9673-57C9F9A6775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5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D91417-2790-033A-CB62-67DBFBB02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226D42-D0DD-4DD9-93CF-626E448C4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89" y="1276589"/>
            <a:ext cx="4041828" cy="30867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1071C54-D4DB-992F-40E3-979A314D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76589"/>
            <a:ext cx="1511453" cy="477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2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6961-E921-8791-4545-5BEEBA8D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F50062-6E20-96C9-FCEA-A95C6B7EA7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AA7AAE-1356-09FD-F16D-0DD70BB9E9C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7B64CE-4516-9114-9DF0-C2F6E2556E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6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358C2EF-A4AD-86D8-46B9-5A797BC06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D49D66-6485-7D70-DFB0-B767766E9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76" y="2040353"/>
            <a:ext cx="3888212" cy="27772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458B0C-847A-3B6C-0057-FBD88BAF3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46" y="2040351"/>
            <a:ext cx="3888210" cy="277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7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B8F5-CCD4-D74A-4D61-41E7547DD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171550-45C1-3729-3515-4CEDDFF791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2A24D0-BC65-10CE-045F-7CA06526FFF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99000B-97A6-A325-60DC-9F5996F494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7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A9911EA-A59C-0A06-63BA-BA060B02C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504126-33CA-7DD7-07BA-E861BE0E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968735"/>
            <a:ext cx="7560001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C6C614-E13D-27D3-DC10-8B36D5E4B47B}"/>
                  </a:ext>
                </a:extLst>
              </p:cNvPr>
              <p:cNvSpPr txBox="1"/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C6C614-E13D-27D3-DC10-8B36D5E4B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73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5F9A-85E5-5B1B-8225-F8C97F1A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DD6FC4-D479-C75D-92E7-52D30DEF6C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F71761-AEF5-CF14-8F52-A3C0987264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CA97A2-104F-81DD-218A-09F0ED0301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8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6880DB9-DD33-DF5E-AC12-32B56DFB3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602122-A6B1-33FA-0DE7-317B4EF7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1999" y="968735"/>
            <a:ext cx="7560000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2D5AFA-5391-D0C1-8BBA-CECA67C34C52}"/>
                  </a:ext>
                </a:extLst>
              </p:cNvPr>
              <p:cNvSpPr txBox="1"/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2D5AFA-5391-D0C1-8BBA-CECA67C34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04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105A-C4D2-892A-4EB4-12716E07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BBCD59-FA68-9F40-CEEA-9E98F6C41B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274D8-6209-481A-040E-F235ADFCAA2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F7F71E-E821-E6EF-CB50-76F0653A30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9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A229989-FD2A-1B0C-3F55-891E3511A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76BC7C-FB22-1658-A6E7-58632D4E9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1999" y="968735"/>
            <a:ext cx="7560000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135A5B-A4E8-6770-7B60-12D1E97CCF10}"/>
                  </a:ext>
                </a:extLst>
              </p:cNvPr>
              <p:cNvSpPr txBox="1"/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=0.25∗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+0.75∗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135A5B-A4E8-6770-7B60-12D1E97CC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26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B760-2930-751B-53EF-CDA354DA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A4A915A-C8CF-6361-CF6D-48732FDD5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03E6CF-0D58-0AC4-859B-9A095CBB03C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F9C925-EE08-02A6-422D-FA400EC30F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10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AF9DBC0-95D9-F69B-9D2A-12111A8F1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13ED23-CF94-5A99-1C8B-C0913F3F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1999" y="968735"/>
            <a:ext cx="7560000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DD134C-EEBA-C080-96FA-A09D5609D79F}"/>
                  </a:ext>
                </a:extLst>
              </p:cNvPr>
              <p:cNvSpPr txBox="1"/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=0.75∗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+0.25∗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DD134C-EEBA-C080-96FA-A09D5609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548" y="5868598"/>
                <a:ext cx="4576396" cy="500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932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644A-CBC2-BF8B-5626-DD51ADCC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80530A-9EE5-E026-AEE8-C65183D95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DCC5B-1543-3AD4-2085-AF347D61F4A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F2ADCA-9E7F-58A9-5203-3E49D30C83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11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8287D1B-5846-76BD-B131-0E1C9073E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EB28B2-D8A8-AB54-5AB8-099CDCE0E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23"/>
          <a:stretch>
            <a:fillRect/>
          </a:stretch>
        </p:blipFill>
        <p:spPr>
          <a:xfrm>
            <a:off x="4546520" y="3583646"/>
            <a:ext cx="4320000" cy="290294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2FCFA4-6425-80E2-C151-9C4094FE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7480" y="836712"/>
            <a:ext cx="4320000" cy="308571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561DC4-D34E-C6B5-C82C-E67BBCC314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502"/>
          <a:stretch>
            <a:fillRect/>
          </a:stretch>
        </p:blipFill>
        <p:spPr>
          <a:xfrm>
            <a:off x="4546520" y="836713"/>
            <a:ext cx="4320000" cy="29159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9B7E26-26FC-A144-03DA-05CA4E5455EA}"/>
                  </a:ext>
                </a:extLst>
              </p:cNvPr>
              <p:cNvSpPr txBox="1"/>
              <p:nvPr/>
            </p:nvSpPr>
            <p:spPr>
              <a:xfrm>
                <a:off x="5328084" y="3752634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=0.75∗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+0.25∗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9B7E26-26FC-A144-03DA-05CA4E54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084" y="3752634"/>
                <a:ext cx="4576396" cy="500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A23806-7F0D-C2D6-38CD-0868EE85F71B}"/>
                  </a:ext>
                </a:extLst>
              </p:cNvPr>
              <p:cNvSpPr txBox="1"/>
              <p:nvPr/>
            </p:nvSpPr>
            <p:spPr>
              <a:xfrm>
                <a:off x="5328084" y="1047789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A23806-7F0D-C2D6-38CD-0868EE85F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084" y="1047789"/>
                <a:ext cx="4576396" cy="5001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35EF2A-0777-4664-1571-7A5766DE6006}"/>
                  </a:ext>
                </a:extLst>
              </p:cNvPr>
              <p:cNvSpPr txBox="1"/>
              <p:nvPr/>
            </p:nvSpPr>
            <p:spPr>
              <a:xfrm>
                <a:off x="751688" y="1047788"/>
                <a:ext cx="4576396" cy="500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=0.25∗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𝑙𝑎𝑡𝑒𝑛𝑐𝑦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+0.75∗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35EF2A-0777-4664-1571-7A5766DE6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88" y="1047788"/>
                <a:ext cx="4576396" cy="5001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345C67C-CC6A-AA53-2014-CE07FAA90FB1}"/>
              </a:ext>
            </a:extLst>
          </p:cNvPr>
          <p:cNvSpPr txBox="1"/>
          <p:nvPr/>
        </p:nvSpPr>
        <p:spPr>
          <a:xfrm>
            <a:off x="751688" y="4486172"/>
            <a:ext cx="345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When cost function favors area optimization it is easier for the algorithm to “escape” potential minimum where latency is optimized</a:t>
            </a:r>
          </a:p>
        </p:txBody>
      </p:sp>
    </p:spTree>
    <p:extLst>
      <p:ext uri="{BB962C8B-B14F-4D97-AF65-F5344CB8AC3E}">
        <p14:creationId xmlns:p14="http://schemas.microsoft.com/office/powerpoint/2010/main" val="49702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3DCF-508E-B2FB-A957-8EC6446C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B6C7D-732C-5C79-FDC3-C76542D23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FC4770-E0FD-719C-7A8E-604F6D2729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F7045B-7EF2-499A-F96C-5FC0857AF1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12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F0EE4D-5E5D-CCB9-8E8A-809BB9A0B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223E4-81F4-6A8C-B246-37946CAD2CCC}"/>
              </a:ext>
            </a:extLst>
          </p:cNvPr>
          <p:cNvSpPr txBox="1"/>
          <p:nvPr/>
        </p:nvSpPr>
        <p:spPr>
          <a:xfrm>
            <a:off x="1682365" y="2312876"/>
            <a:ext cx="5779269" cy="202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Overhead is small: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store only two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depends mostly on the iteration number, not program length (no recursion)</a:t>
            </a:r>
          </a:p>
          <a:p>
            <a:endParaRPr lang="en-US" dirty="0"/>
          </a:p>
          <a:p>
            <a:r>
              <a:rPr lang="en-US" dirty="0"/>
              <a:t>Result is not guaranteed: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guarantee after a single run if the result is true minimum</a:t>
            </a:r>
          </a:p>
        </p:txBody>
      </p:sp>
    </p:spTree>
    <p:extLst>
      <p:ext uri="{BB962C8B-B14F-4D97-AF65-F5344CB8AC3E}">
        <p14:creationId xmlns:p14="http://schemas.microsoft.com/office/powerpoint/2010/main" val="377042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D156-931B-5E93-7F4E-1AA42C48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D6AF9B-CA16-9C49-C8ED-5262BF3FED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B5FE7-2A2B-D113-1989-99C5D934535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29.06.2026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6C31A-9B21-A5BD-3E62-E9A23410E1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13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8FB4653-96F7-C0A9-23F9-304988710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C5FF4-CACB-A3EB-8C0D-2099828F9727}"/>
              </a:ext>
            </a:extLst>
          </p:cNvPr>
          <p:cNvSpPr txBox="1"/>
          <p:nvPr/>
        </p:nvSpPr>
        <p:spPr>
          <a:xfrm>
            <a:off x="325053" y="1268760"/>
            <a:ext cx="8493893" cy="193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S. Devadas and A. R. Newton, ‘Algorithms for hardware allocation in data path synthesis’, </a:t>
            </a:r>
            <a:r>
              <a:rPr lang="en-US" i="1" dirty="0"/>
              <a:t>IEEE Transactions on Computer-Aided Design of Integrated Circuits and Systems</a:t>
            </a:r>
            <a:r>
              <a:rPr lang="en-US" dirty="0"/>
              <a:t>, vol. 8, no. 7, pp. 768–781, Jul. 1989, </a:t>
            </a:r>
            <a:r>
              <a:rPr lang="en-US" dirty="0" err="1"/>
              <a:t>doi</a:t>
            </a:r>
            <a:r>
              <a:rPr lang="en-US" dirty="0"/>
              <a:t>: 10.1109/43.31534.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ChatGPT (OpenAI, GPT-5.5) was used to assist in the development of the simulation code, literature analysis, and drafting of non-technical text. All generated content was reviewed and validated by the authors.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19033"/>
      </p:ext>
    </p:extLst>
  </p:cSld>
  <p:clrMapOvr>
    <a:masterClrMapping/>
  </p:clrMapOvr>
</p:sld>
</file>

<file path=ppt/theme/theme1.xml><?xml version="1.0" encoding="utf-8"?>
<a:theme xmlns:a="http://schemas.openxmlformats.org/drawingml/2006/main" name="1_STANDARD">
  <a:themeElements>
    <a:clrScheme name="STANDARD 1">
      <a:dk1>
        <a:srgbClr val="000000"/>
      </a:dk1>
      <a:lt1>
        <a:srgbClr val="FFFFFF"/>
      </a:lt1>
      <a:dk2>
        <a:srgbClr val="00197D"/>
      </a:dk2>
      <a:lt2>
        <a:srgbClr val="646464"/>
      </a:lt2>
      <a:accent1>
        <a:srgbClr val="0078F0"/>
      </a:accent1>
      <a:accent2>
        <a:srgbClr val="6EAA23"/>
      </a:accent2>
      <a:accent3>
        <a:srgbClr val="FFFFFF"/>
      </a:accent3>
      <a:accent4>
        <a:srgbClr val="000000"/>
      </a:accent4>
      <a:accent5>
        <a:srgbClr val="AABEF6"/>
      </a:accent5>
      <a:accent6>
        <a:srgbClr val="639A1F"/>
      </a:accent6>
      <a:hlink>
        <a:srgbClr val="00197D"/>
      </a:hlink>
      <a:folHlink>
        <a:srgbClr val="FF8700"/>
      </a:folHlink>
    </a:clrScheme>
    <a:fontScheme name="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STANDARD 1">
        <a:dk1>
          <a:srgbClr val="000000"/>
        </a:dk1>
        <a:lt1>
          <a:srgbClr val="FFFFFF"/>
        </a:lt1>
        <a:dk2>
          <a:srgbClr val="00197D"/>
        </a:dk2>
        <a:lt2>
          <a:srgbClr val="646464"/>
        </a:lt2>
        <a:accent1>
          <a:srgbClr val="0078F0"/>
        </a:accent1>
        <a:accent2>
          <a:srgbClr val="6EAA23"/>
        </a:accent2>
        <a:accent3>
          <a:srgbClr val="FFFFFF"/>
        </a:accent3>
        <a:accent4>
          <a:srgbClr val="000000"/>
        </a:accent4>
        <a:accent5>
          <a:srgbClr val="AABEF6"/>
        </a:accent5>
        <a:accent6>
          <a:srgbClr val="639A1F"/>
        </a:accent6>
        <a:hlink>
          <a:srgbClr val="00197D"/>
        </a:hlink>
        <a:folHlink>
          <a:srgbClr val="FF87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485</Words>
  <Application>Microsoft Office PowerPoint</Application>
  <PresentationFormat>Экран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Wingdings 3</vt:lpstr>
      <vt:lpstr>1_STANDARD</vt:lpstr>
      <vt:lpstr>Simulated Annealing Scheduling Algorithm </vt:lpstr>
      <vt:lpstr>Algorithm</vt:lpstr>
      <vt:lpstr>Algorithm</vt:lpstr>
      <vt:lpstr>Algorithm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HSHL</dc:title>
  <dc:creator>Prof. Dr. Henkler, Stefan</dc:creator>
  <cp:lastModifiedBy>Oleg Kelner</cp:lastModifiedBy>
  <cp:revision>761</cp:revision>
  <cp:lastPrinted>2016-03-22T17:20:48Z</cp:lastPrinted>
  <dcterms:created xsi:type="dcterms:W3CDTF">2008-08-13T11:47:09Z</dcterms:created>
  <dcterms:modified xsi:type="dcterms:W3CDTF">2026-06-29T05:35:13Z</dcterms:modified>
</cp:coreProperties>
</file>